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sldIdLst>
    <p:sldId id="256" r:id="rId2"/>
  </p:sldIdLst>
  <p:sldSz cx="40233600" cy="402336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672">
          <p15:clr>
            <a:srgbClr val="A4A3A4"/>
          </p15:clr>
        </p15:guide>
        <p15:guide id="2" pos="12672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rista Stiles" initials="CS" lastIdx="1" clrIdx="0">
    <p:extLst>
      <p:ext uri="{19B8F6BF-5375-455C-9EA6-DF929625EA0E}">
        <p15:presenceInfo xmlns:p15="http://schemas.microsoft.com/office/powerpoint/2012/main" userId="b35202bb27e0eab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6EA4"/>
    <a:srgbClr val="EAEAEA"/>
    <a:srgbClr val="FFFFFF"/>
    <a:srgbClr val="006699"/>
    <a:srgbClr val="CCECFF"/>
    <a:srgbClr val="F8F8F8"/>
    <a:srgbClr val="FFFF66"/>
    <a:srgbClr val="003A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76" autoAdjust="0"/>
  </p:normalViewPr>
  <p:slideViewPr>
    <p:cSldViewPr>
      <p:cViewPr>
        <p:scale>
          <a:sx n="40" d="100"/>
          <a:sy n="40" d="100"/>
        </p:scale>
        <p:origin x="-3618" y="-5214"/>
      </p:cViewPr>
      <p:guideLst>
        <p:guide orient="horz" pos="12672"/>
        <p:guide pos="1267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commentAuthors" Target="commentAuthors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6AE41-977B-4766-9D8E-062B152253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29200" y="6584530"/>
            <a:ext cx="30175200" cy="14007253"/>
          </a:xfrm>
        </p:spPr>
        <p:txBody>
          <a:bodyPr anchor="b"/>
          <a:lstStyle>
            <a:lvl1pPr algn="ctr">
              <a:defRPr sz="19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2D275C-6EF9-4B15-B6CA-159E1CF0FF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9200" y="21131956"/>
            <a:ext cx="30175200" cy="9713804"/>
          </a:xfrm>
        </p:spPr>
        <p:txBody>
          <a:bodyPr/>
          <a:lstStyle>
            <a:lvl1pPr marL="0" indent="0" algn="ctr">
              <a:buNone/>
              <a:defRPr sz="7920"/>
            </a:lvl1pPr>
            <a:lvl2pPr marL="1508760" indent="0" algn="ctr">
              <a:buNone/>
              <a:defRPr sz="6600"/>
            </a:lvl2pPr>
            <a:lvl3pPr marL="3017520" indent="0" algn="ctr">
              <a:buNone/>
              <a:defRPr sz="5940"/>
            </a:lvl3pPr>
            <a:lvl4pPr marL="4526280" indent="0" algn="ctr">
              <a:buNone/>
              <a:defRPr sz="5280"/>
            </a:lvl4pPr>
            <a:lvl5pPr marL="6035040" indent="0" algn="ctr">
              <a:buNone/>
              <a:defRPr sz="5280"/>
            </a:lvl5pPr>
            <a:lvl6pPr marL="7543800" indent="0" algn="ctr">
              <a:buNone/>
              <a:defRPr sz="5280"/>
            </a:lvl6pPr>
            <a:lvl7pPr marL="9052560" indent="0" algn="ctr">
              <a:buNone/>
              <a:defRPr sz="5280"/>
            </a:lvl7pPr>
            <a:lvl8pPr marL="10561320" indent="0" algn="ctr">
              <a:buNone/>
              <a:defRPr sz="5280"/>
            </a:lvl8pPr>
            <a:lvl9pPr marL="12070080" indent="0" algn="ctr">
              <a:buNone/>
              <a:defRPr sz="5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3AB26-CF12-4972-82BC-B29BB41D7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923CD8-BE7E-4750-9069-0EF3E700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A0FFC-A8BE-4334-8CED-813021EFD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603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388C3-D88A-46AD-A951-6E2E2C377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09B76-75B0-4452-BB11-9E7D9060D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426EE5-E33F-41EF-9428-8EDDE4B20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52F4A-EC4E-4F11-9B95-0CE7959B9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6BC9A-9463-41C5-B3F4-FF75EE4A3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127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8BBEA-D35E-43C5-9A73-C39007CB4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5105" y="10030466"/>
            <a:ext cx="34701480" cy="16736057"/>
          </a:xfrm>
        </p:spPr>
        <p:txBody>
          <a:bodyPr anchor="b"/>
          <a:lstStyle>
            <a:lvl1pPr>
              <a:defRPr sz="19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0ACA4-3353-4533-B548-D5F6BE946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5105" y="26924853"/>
            <a:ext cx="34701480" cy="8801097"/>
          </a:xfrm>
        </p:spPr>
        <p:txBody>
          <a:bodyPr/>
          <a:lstStyle>
            <a:lvl1pPr marL="0" indent="0">
              <a:buNone/>
              <a:defRPr sz="7920">
                <a:solidFill>
                  <a:schemeClr val="tx1">
                    <a:tint val="75000"/>
                  </a:schemeClr>
                </a:solidFill>
              </a:defRPr>
            </a:lvl1pPr>
            <a:lvl2pPr marL="150876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2pPr>
            <a:lvl3pPr marL="3017520" indent="0">
              <a:buNone/>
              <a:defRPr sz="5940">
                <a:solidFill>
                  <a:schemeClr val="tx1">
                    <a:tint val="75000"/>
                  </a:schemeClr>
                </a:solidFill>
              </a:defRPr>
            </a:lvl3pPr>
            <a:lvl4pPr marL="4526280" indent="0">
              <a:buNone/>
              <a:defRPr sz="5280">
                <a:solidFill>
                  <a:schemeClr val="tx1">
                    <a:tint val="75000"/>
                  </a:schemeClr>
                </a:solidFill>
              </a:defRPr>
            </a:lvl4pPr>
            <a:lvl5pPr marL="6035040" indent="0">
              <a:buNone/>
              <a:defRPr sz="5280">
                <a:solidFill>
                  <a:schemeClr val="tx1">
                    <a:tint val="75000"/>
                  </a:schemeClr>
                </a:solidFill>
              </a:defRPr>
            </a:lvl5pPr>
            <a:lvl6pPr marL="7543800" indent="0">
              <a:buNone/>
              <a:defRPr sz="5280">
                <a:solidFill>
                  <a:schemeClr val="tx1">
                    <a:tint val="75000"/>
                  </a:schemeClr>
                </a:solidFill>
              </a:defRPr>
            </a:lvl6pPr>
            <a:lvl7pPr marL="9052560" indent="0">
              <a:buNone/>
              <a:defRPr sz="5280">
                <a:solidFill>
                  <a:schemeClr val="tx1">
                    <a:tint val="75000"/>
                  </a:schemeClr>
                </a:solidFill>
              </a:defRPr>
            </a:lvl7pPr>
            <a:lvl8pPr marL="10561320" indent="0">
              <a:buNone/>
              <a:defRPr sz="5280">
                <a:solidFill>
                  <a:schemeClr val="tx1">
                    <a:tint val="75000"/>
                  </a:schemeClr>
                </a:solidFill>
              </a:defRPr>
            </a:lvl8pPr>
            <a:lvl9pPr marL="12070080" indent="0">
              <a:buNone/>
              <a:defRPr sz="5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D57A92-2528-43F7-9A2E-01D31E7CE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BEDF0-54FE-4DE1-88D1-91E17C7EA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BF6A8-23E2-492B-9EF4-2D34D4417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44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8D39A-D483-4707-B145-6C2AEF05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06AD5-6A9B-440D-9EE1-896B802788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66060" y="10710333"/>
            <a:ext cx="17099280" cy="2552785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037028-172E-4796-B423-A2B992EBB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368260" y="10710333"/>
            <a:ext cx="17099280" cy="2552785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88B7E5-342F-45A2-B9BE-EE15D204E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DCB955-9574-4DAA-AF05-5BAC9340E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0B01A3-513F-47DD-B58E-63C153561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58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F0810-0CF5-4A47-86F3-1A95C0275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1300" y="2142070"/>
            <a:ext cx="34701480" cy="777663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0A303-5E56-49AB-AFFF-681167C6E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71302" y="9862823"/>
            <a:ext cx="17020697" cy="4833617"/>
          </a:xfrm>
        </p:spPr>
        <p:txBody>
          <a:bodyPr anchor="b"/>
          <a:lstStyle>
            <a:lvl1pPr marL="0" indent="0">
              <a:buNone/>
              <a:defRPr sz="7920" b="1"/>
            </a:lvl1pPr>
            <a:lvl2pPr marL="1508760" indent="0">
              <a:buNone/>
              <a:defRPr sz="6600" b="1"/>
            </a:lvl2pPr>
            <a:lvl3pPr marL="3017520" indent="0">
              <a:buNone/>
              <a:defRPr sz="5940" b="1"/>
            </a:lvl3pPr>
            <a:lvl4pPr marL="4526280" indent="0">
              <a:buNone/>
              <a:defRPr sz="5280" b="1"/>
            </a:lvl4pPr>
            <a:lvl5pPr marL="6035040" indent="0">
              <a:buNone/>
              <a:defRPr sz="5280" b="1"/>
            </a:lvl5pPr>
            <a:lvl6pPr marL="7543800" indent="0">
              <a:buNone/>
              <a:defRPr sz="5280" b="1"/>
            </a:lvl6pPr>
            <a:lvl7pPr marL="9052560" indent="0">
              <a:buNone/>
              <a:defRPr sz="5280" b="1"/>
            </a:lvl7pPr>
            <a:lvl8pPr marL="10561320" indent="0">
              <a:buNone/>
              <a:defRPr sz="5280" b="1"/>
            </a:lvl8pPr>
            <a:lvl9pPr marL="12070080" indent="0">
              <a:buNone/>
              <a:defRPr sz="5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56A75-7E6A-4C85-9E0E-71EB92231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771302" y="14696440"/>
            <a:ext cx="17020697" cy="2161625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4CAB8-163C-4AB2-9361-36E9078CF2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0368260" y="9862823"/>
            <a:ext cx="17104520" cy="4833617"/>
          </a:xfrm>
        </p:spPr>
        <p:txBody>
          <a:bodyPr anchor="b"/>
          <a:lstStyle>
            <a:lvl1pPr marL="0" indent="0">
              <a:buNone/>
              <a:defRPr sz="7920" b="1"/>
            </a:lvl1pPr>
            <a:lvl2pPr marL="1508760" indent="0">
              <a:buNone/>
              <a:defRPr sz="6600" b="1"/>
            </a:lvl2pPr>
            <a:lvl3pPr marL="3017520" indent="0">
              <a:buNone/>
              <a:defRPr sz="5940" b="1"/>
            </a:lvl3pPr>
            <a:lvl4pPr marL="4526280" indent="0">
              <a:buNone/>
              <a:defRPr sz="5280" b="1"/>
            </a:lvl4pPr>
            <a:lvl5pPr marL="6035040" indent="0">
              <a:buNone/>
              <a:defRPr sz="5280" b="1"/>
            </a:lvl5pPr>
            <a:lvl6pPr marL="7543800" indent="0">
              <a:buNone/>
              <a:defRPr sz="5280" b="1"/>
            </a:lvl6pPr>
            <a:lvl7pPr marL="9052560" indent="0">
              <a:buNone/>
              <a:defRPr sz="5280" b="1"/>
            </a:lvl7pPr>
            <a:lvl8pPr marL="10561320" indent="0">
              <a:buNone/>
              <a:defRPr sz="5280" b="1"/>
            </a:lvl8pPr>
            <a:lvl9pPr marL="12070080" indent="0">
              <a:buNone/>
              <a:defRPr sz="5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8391A2-1479-4384-91C2-FB007643D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0368260" y="14696440"/>
            <a:ext cx="17104520" cy="2161625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E1354C-9244-4377-B9C1-8F12A7AFE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667047-8FAB-4ED5-8D7F-278E04E86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4AA354-655A-4F94-87A0-B4BCEC92A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861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D079B-C228-430A-9F49-44DB09939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1E05A7-434D-457C-A595-88E05BE86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C0374A-4F79-4CAA-BA82-77BDBB22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D50CA2-6CE8-464A-9064-FFFA49D28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356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C5C589-C9A3-4CA5-B14F-5F4411610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8B5F20-988F-4544-AF56-93F282FC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86342-04D3-4183-B597-DE9FE76CE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283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238A-575F-48BC-9F63-FCBA61EA5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1302" y="2682240"/>
            <a:ext cx="12976382" cy="9387840"/>
          </a:xfrm>
        </p:spPr>
        <p:txBody>
          <a:bodyPr anchor="b"/>
          <a:lstStyle>
            <a:lvl1pPr>
              <a:defRPr sz="10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4D694-F094-4941-88ED-CAC7E7A2B8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04520" y="5792896"/>
            <a:ext cx="20368260" cy="28591933"/>
          </a:xfrm>
        </p:spPr>
        <p:txBody>
          <a:bodyPr/>
          <a:lstStyle>
            <a:lvl1pPr>
              <a:defRPr sz="10560"/>
            </a:lvl1pPr>
            <a:lvl2pPr>
              <a:defRPr sz="9240"/>
            </a:lvl2pPr>
            <a:lvl3pPr>
              <a:defRPr sz="7920"/>
            </a:lvl3pPr>
            <a:lvl4pPr>
              <a:defRPr sz="6600"/>
            </a:lvl4pPr>
            <a:lvl5pPr>
              <a:defRPr sz="6600"/>
            </a:lvl5pPr>
            <a:lvl6pPr>
              <a:defRPr sz="6600"/>
            </a:lvl6pPr>
            <a:lvl7pPr>
              <a:defRPr sz="6600"/>
            </a:lvl7pPr>
            <a:lvl8pPr>
              <a:defRPr sz="6600"/>
            </a:lvl8pPr>
            <a:lvl9pPr>
              <a:defRPr sz="6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97F101-8487-42C9-9853-96A0F275F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71302" y="12070080"/>
            <a:ext cx="12976382" cy="22361316"/>
          </a:xfrm>
        </p:spPr>
        <p:txBody>
          <a:bodyPr/>
          <a:lstStyle>
            <a:lvl1pPr marL="0" indent="0">
              <a:buNone/>
              <a:defRPr sz="5280"/>
            </a:lvl1pPr>
            <a:lvl2pPr marL="1508760" indent="0">
              <a:buNone/>
              <a:defRPr sz="4620"/>
            </a:lvl2pPr>
            <a:lvl3pPr marL="3017520" indent="0">
              <a:buNone/>
              <a:defRPr sz="3960"/>
            </a:lvl3pPr>
            <a:lvl4pPr marL="4526280" indent="0">
              <a:buNone/>
              <a:defRPr sz="3300"/>
            </a:lvl4pPr>
            <a:lvl5pPr marL="6035040" indent="0">
              <a:buNone/>
              <a:defRPr sz="3300"/>
            </a:lvl5pPr>
            <a:lvl6pPr marL="7543800" indent="0">
              <a:buNone/>
              <a:defRPr sz="3300"/>
            </a:lvl6pPr>
            <a:lvl7pPr marL="9052560" indent="0">
              <a:buNone/>
              <a:defRPr sz="3300"/>
            </a:lvl7pPr>
            <a:lvl8pPr marL="10561320" indent="0">
              <a:buNone/>
              <a:defRPr sz="3300"/>
            </a:lvl8pPr>
            <a:lvl9pPr marL="12070080" indent="0">
              <a:buNone/>
              <a:defRPr sz="33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6F9F74-D350-4CEA-87B7-4F8EF2A38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2F3CE2-1FF9-4E3B-B77F-10F6A85E7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E59DAF-84F0-4FDA-A9E2-6FC11D244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5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E05C-8A4D-46CB-A0F6-701700CC8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1302" y="2682240"/>
            <a:ext cx="12976382" cy="9387840"/>
          </a:xfrm>
        </p:spPr>
        <p:txBody>
          <a:bodyPr anchor="b"/>
          <a:lstStyle>
            <a:lvl1pPr>
              <a:defRPr sz="10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E0107F-3F28-44BD-8FA8-4B8BBA15B9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104520" y="5792896"/>
            <a:ext cx="20368260" cy="28591933"/>
          </a:xfrm>
        </p:spPr>
        <p:txBody>
          <a:bodyPr/>
          <a:lstStyle>
            <a:lvl1pPr marL="0" indent="0">
              <a:buNone/>
              <a:defRPr sz="10560"/>
            </a:lvl1pPr>
            <a:lvl2pPr marL="1508760" indent="0">
              <a:buNone/>
              <a:defRPr sz="9240"/>
            </a:lvl2pPr>
            <a:lvl3pPr marL="3017520" indent="0">
              <a:buNone/>
              <a:defRPr sz="7920"/>
            </a:lvl3pPr>
            <a:lvl4pPr marL="4526280" indent="0">
              <a:buNone/>
              <a:defRPr sz="6600"/>
            </a:lvl4pPr>
            <a:lvl5pPr marL="6035040" indent="0">
              <a:buNone/>
              <a:defRPr sz="6600"/>
            </a:lvl5pPr>
            <a:lvl6pPr marL="7543800" indent="0">
              <a:buNone/>
              <a:defRPr sz="6600"/>
            </a:lvl6pPr>
            <a:lvl7pPr marL="9052560" indent="0">
              <a:buNone/>
              <a:defRPr sz="6600"/>
            </a:lvl7pPr>
            <a:lvl8pPr marL="10561320" indent="0">
              <a:buNone/>
              <a:defRPr sz="6600"/>
            </a:lvl8pPr>
            <a:lvl9pPr marL="12070080" indent="0">
              <a:buNone/>
              <a:defRPr sz="6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DE2F50-7EE1-4C0C-A001-2424D2EA0B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71302" y="12070080"/>
            <a:ext cx="12976382" cy="22361316"/>
          </a:xfrm>
        </p:spPr>
        <p:txBody>
          <a:bodyPr/>
          <a:lstStyle>
            <a:lvl1pPr marL="0" indent="0">
              <a:buNone/>
              <a:defRPr sz="5280"/>
            </a:lvl1pPr>
            <a:lvl2pPr marL="1508760" indent="0">
              <a:buNone/>
              <a:defRPr sz="4620"/>
            </a:lvl2pPr>
            <a:lvl3pPr marL="3017520" indent="0">
              <a:buNone/>
              <a:defRPr sz="3960"/>
            </a:lvl3pPr>
            <a:lvl4pPr marL="4526280" indent="0">
              <a:buNone/>
              <a:defRPr sz="3300"/>
            </a:lvl4pPr>
            <a:lvl5pPr marL="6035040" indent="0">
              <a:buNone/>
              <a:defRPr sz="3300"/>
            </a:lvl5pPr>
            <a:lvl6pPr marL="7543800" indent="0">
              <a:buNone/>
              <a:defRPr sz="3300"/>
            </a:lvl6pPr>
            <a:lvl7pPr marL="9052560" indent="0">
              <a:buNone/>
              <a:defRPr sz="3300"/>
            </a:lvl7pPr>
            <a:lvl8pPr marL="10561320" indent="0">
              <a:buNone/>
              <a:defRPr sz="3300"/>
            </a:lvl8pPr>
            <a:lvl9pPr marL="12070080" indent="0">
              <a:buNone/>
              <a:defRPr sz="33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29D406-80AD-4FFA-9374-7D9655E6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79C68-D8F1-4BCC-A90D-9E3AE68F6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16885-8126-4CA0-9616-7F41C3CA6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77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794FF-E5AB-4AE9-BA61-439C254B0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E1618A-4960-4E23-9F9B-EF190CC14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9C04E-2555-45C2-A33A-57C561334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2E42E-58CB-4338-A5B1-C36C35C0D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9B140-639A-4784-A136-F6170F6C5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498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9D96F-3994-47E0-B6AB-AC68B045CA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8792170" y="2142067"/>
            <a:ext cx="8675370" cy="3409611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B07CB7-7F9A-48B5-83F3-67E6F22DB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766060" y="2142067"/>
            <a:ext cx="25523190" cy="3409611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EBD46-16B0-48EF-AF8D-3EB63CB4D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19442-261F-467A-86EE-A302822E7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E7CB-4E08-43EA-8739-ED1248C9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2009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tructions"/>
          <p:cNvSpPr/>
          <p:nvPr userDrawn="1"/>
        </p:nvSpPr>
        <p:spPr>
          <a:xfrm>
            <a:off x="-12573000" y="0"/>
            <a:ext cx="11734800" cy="402336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09535" tIns="209535" rIns="209535" bIns="209535" rtlCol="0" anchor="t"/>
          <a:lstStyle>
            <a:defPPr>
              <a:defRPr lang="en-US"/>
            </a:defPPr>
            <a:lvl1pPr marL="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184343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368686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553029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37372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921715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106058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290401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474744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2200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Print Size:</a:t>
            </a:r>
            <a:endParaRPr sz="88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00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This poster template is 44” high by 44” wide. It can be used to print any poster with a 1:1 aspect ratio.</a:t>
            </a:r>
          </a:p>
          <a:p>
            <a:pPr lvl="0">
              <a:spcBef>
                <a:spcPts val="0"/>
              </a:spcBef>
              <a:spcAft>
                <a:spcPts val="2200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Placeholders</a:t>
            </a:r>
            <a:r>
              <a:rPr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00"/>
              </a:spcAft>
            </a:pP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The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various elements included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 this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are ones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we often see in medical, research, and scientific posters.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Feel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free to edit, move,  add, and delete items, or change the layout to suit your needs. Always check with your conference organizer for specific requirements.</a:t>
            </a:r>
          </a:p>
          <a:p>
            <a:pPr lvl="0">
              <a:spcBef>
                <a:spcPts val="0"/>
              </a:spcBef>
              <a:spcAft>
                <a:spcPts val="2200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Image</a:t>
            </a:r>
            <a:r>
              <a:rPr lang="en-US" sz="88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Quality</a:t>
            </a: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00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You can place digital photos or logo art in your poster file by selecting the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Insert, Picture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command, or by using standard copy &amp; paste. For best results, all graphic elements should be at least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150-200 pixels per inch in their final printed size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. For instance, a 1600 x 1200 pixel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photo will usually look fine up to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8“-10” wide on your printed poster.</a:t>
            </a:r>
          </a:p>
          <a:p>
            <a:pPr lvl="0">
              <a:spcBef>
                <a:spcPts val="0"/>
              </a:spcBef>
              <a:spcAft>
                <a:spcPts val="2200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To preview the print quality of images, select a magnification of 100% when previewing your poster. This will give you a good idea of what it will look like in print. If you are laying out a large poster and using half-scale dimensions, be sure to preview your graphics at 200% to see them at their final printed size.</a:t>
            </a:r>
          </a:p>
          <a:p>
            <a:pPr lvl="0">
              <a:spcBef>
                <a:spcPts val="0"/>
              </a:spcBef>
              <a:spcAft>
                <a:spcPts val="2200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Please note that graphics from websites (such as the logo on your hospital's or university's home page) will only be 72dpi and not suitable for printing.</a:t>
            </a:r>
          </a:p>
          <a:p>
            <a:pPr lvl="0" algn="ctr">
              <a:spcBef>
                <a:spcPts val="0"/>
              </a:spcBef>
              <a:spcAft>
                <a:spcPts val="2200"/>
              </a:spcAft>
            </a:pPr>
            <a:b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</a:br>
            <a: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[This sidebar area does not print.]</a:t>
            </a:r>
          </a:p>
        </p:txBody>
      </p:sp>
      <p:grpSp>
        <p:nvGrpSpPr>
          <p:cNvPr id="3" name="Group 2"/>
          <p:cNvGrpSpPr/>
          <p:nvPr userDrawn="1"/>
        </p:nvGrpSpPr>
        <p:grpSpPr>
          <a:xfrm>
            <a:off x="41071800" y="0"/>
            <a:ext cx="11734800" cy="40233600"/>
            <a:chOff x="33832800" y="0"/>
            <a:chExt cx="12801600" cy="43891200"/>
          </a:xfrm>
        </p:grpSpPr>
        <p:sp>
          <p:nvSpPr>
            <p:cNvPr id="4" name="Instructions"/>
            <p:cNvSpPr/>
            <p:nvPr userDrawn="1"/>
          </p:nvSpPr>
          <p:spPr>
            <a:xfrm>
              <a:off x="33832800" y="0"/>
              <a:ext cx="12801600" cy="438912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28600" tIns="228600" rIns="228600" bIns="228600" rtlCol="0" anchor="t"/>
            <a:lstStyle>
              <a:defPPr>
                <a:defRPr lang="en-US"/>
              </a:defPPr>
              <a:lvl1pPr marL="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184343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368686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553029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737372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921715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106058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290401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474744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spcBef>
                  <a:spcPts val="0"/>
                </a:spcBef>
                <a:spcAft>
                  <a:spcPts val="2200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Change</a:t>
              </a:r>
              <a:r>
                <a:rPr lang="en-US" sz="88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Color Theme</a:t>
              </a: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:</a:t>
              </a:r>
              <a:endParaRPr sz="88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This template is designed to use the built-in color themes in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the newer versions of PowerPoint.</a:t>
              </a: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To change the color theme,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Design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tab, then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Colors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drop-down list.</a:t>
              </a: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The default color theme for this template is “Office”, so you can always return to that after trying some of the alternatives.</a:t>
              </a: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Printing Your Poster:</a:t>
              </a: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Once your poster file is ready, visit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www.genigraphics.com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to order a high-quality, affordable poster print. Every order receives a free design review and we can deliver as fast as next business day within the US and Canada. </a:t>
              </a:r>
            </a:p>
            <a:p>
              <a:pPr lvl="0">
                <a:spcBef>
                  <a:spcPts val="0"/>
                </a:spcBef>
                <a:spcAft>
                  <a:spcPts val="220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Genigraphics® has been producing output from PowerPoint® longer than anyone in the industry; dating back to when we helped Microsoft® design the PowerPoint® software. </a:t>
              </a:r>
            </a:p>
            <a:p>
              <a:pPr lvl="0">
                <a:spcBef>
                  <a:spcPts val="0"/>
                </a:spcBef>
                <a:spcAft>
                  <a:spcPts val="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US and Canada:  1-800-790-4001</a:t>
              </a:r>
              <a:b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Email: info@genigraphics.com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b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[This sidebar area does not print.]</a:t>
              </a:r>
            </a:p>
          </p:txBody>
        </p:sp>
        <p:pic>
          <p:nvPicPr>
            <p:cNvPr id="5" name="Picture 4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1342" y="9260274"/>
              <a:ext cx="11904515" cy="102469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47110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8C9F7-52D5-428C-AFDB-81EBF3B84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6060" y="2142070"/>
            <a:ext cx="34701480" cy="7776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39959D-F541-4C08-84D6-25C90342F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66060" y="10710333"/>
            <a:ext cx="34701480" cy="25527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D78E7-A578-4203-8CFF-21B786B73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66060" y="37290589"/>
            <a:ext cx="9052560" cy="21420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978B2-369F-46DE-9CB3-632AEF8809BF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999EA-67CF-4ECB-9F51-302681A3AD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327380" y="37290589"/>
            <a:ext cx="13578840" cy="21420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DD9C65-15DB-4C7A-B277-9F392F50E9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8414980" y="37290589"/>
            <a:ext cx="9052560" cy="21420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5EE51A-51D7-4ABB-9EE6-C98170A62AB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12C3ABDF-F1D0-4D14-9A29-5FFAAD788F8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5483225"/>
            <a:ext cx="8410575" cy="3474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wrap="none" lIns="419070" tIns="209535" rIns="419070" bIns="419070"/>
          <a:lstStyle/>
          <a:p>
            <a:pPr algn="ctr" defTabSz="4022725"/>
            <a:endParaRPr lang="en-US" sz="4400" dirty="0">
              <a:latin typeface="Calibri" pitchFamily="34" charset="0"/>
            </a:endParaRPr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41894445-C117-44CA-BF76-99C5120B541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408987" y="0"/>
            <a:ext cx="31821120" cy="548481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wrap="none" lIns="457200" tIns="457200" rIns="457200" bIns="457200"/>
          <a:lstStyle/>
          <a:p>
            <a:endParaRPr lang="en-US" dirty="0">
              <a:latin typeface="Calibri" pitchFamily="34" charset="0"/>
            </a:endParaRP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4CA1117B-0BC2-4154-8DAD-ADC925F3EA0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408987" y="5483225"/>
            <a:ext cx="31821120" cy="347472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txBody>
          <a:bodyPr wrap="none" lIns="457200" tIns="457200" rIns="457200" bIns="457200"/>
          <a:lstStyle/>
          <a:p>
            <a:endParaRPr lang="en-US" dirty="0">
              <a:latin typeface="Calibri" pitchFamily="34" charset="0"/>
            </a:endParaRPr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55E3723A-6C44-4EEC-A211-7FD61795C9A2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8408988" y="0"/>
            <a:ext cx="0" cy="402209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Calibri" pitchFamily="34" charset="0"/>
            </a:endParaRPr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7CFFF8EA-912E-4C1C-8803-644DD9F44032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5483225"/>
            <a:ext cx="402209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Calibri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F000DC9-F40E-4F7A-800F-56B959C9E80D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47200" y="39928800"/>
            <a:ext cx="5297435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txStyles>
    <p:titleStyle>
      <a:lvl1pPr algn="l" defTabSz="3017520" rtl="0" eaLnBrk="1" latinLnBrk="0" hangingPunct="1">
        <a:lnSpc>
          <a:spcPct val="90000"/>
        </a:lnSpc>
        <a:spcBef>
          <a:spcPct val="0"/>
        </a:spcBef>
        <a:buNone/>
        <a:defRPr sz="145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4380" indent="-754380" algn="l" defTabSz="3017520" rtl="0" eaLnBrk="1" latinLnBrk="0" hangingPunct="1">
        <a:lnSpc>
          <a:spcPct val="90000"/>
        </a:lnSpc>
        <a:spcBef>
          <a:spcPts val="3300"/>
        </a:spcBef>
        <a:buFont typeface="Arial" panose="020B0604020202020204" pitchFamily="34" charset="0"/>
        <a:buChar char="•"/>
        <a:defRPr sz="9240" kern="1200">
          <a:solidFill>
            <a:schemeClr val="tx1"/>
          </a:solidFill>
          <a:latin typeface="+mn-lt"/>
          <a:ea typeface="+mn-ea"/>
          <a:cs typeface="+mn-cs"/>
        </a:defRPr>
      </a:lvl1pPr>
      <a:lvl2pPr marL="226314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7920" kern="1200">
          <a:solidFill>
            <a:schemeClr val="tx1"/>
          </a:solidFill>
          <a:latin typeface="+mn-lt"/>
          <a:ea typeface="+mn-ea"/>
          <a:cs typeface="+mn-cs"/>
        </a:defRPr>
      </a:lvl2pPr>
      <a:lvl3pPr marL="377190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6600" kern="1200">
          <a:solidFill>
            <a:schemeClr val="tx1"/>
          </a:solidFill>
          <a:latin typeface="+mn-lt"/>
          <a:ea typeface="+mn-ea"/>
          <a:cs typeface="+mn-cs"/>
        </a:defRPr>
      </a:lvl3pPr>
      <a:lvl4pPr marL="528066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4pPr>
      <a:lvl5pPr marL="678942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5pPr>
      <a:lvl6pPr marL="829818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6pPr>
      <a:lvl7pPr marL="980694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7pPr>
      <a:lvl8pPr marL="1131570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8pPr>
      <a:lvl9pPr marL="1282446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1pPr>
      <a:lvl2pPr marL="150876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2pPr>
      <a:lvl3pPr marL="301752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3pPr>
      <a:lvl4pPr marL="452628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4pPr>
      <a:lvl5pPr marL="603504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6pPr>
      <a:lvl7pPr marL="905256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7pPr>
      <a:lvl8pPr marL="1056132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8pPr>
      <a:lvl9pPr marL="1207008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hyperlink" Target="mailto:bvaishnav@som.umaryland.edu" TargetMode="Externa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jpe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4" name="Text Box 186"/>
          <p:cNvSpPr txBox="1">
            <a:spLocks noChangeArrowheads="1"/>
          </p:cNvSpPr>
          <p:nvPr/>
        </p:nvSpPr>
        <p:spPr bwMode="auto">
          <a:xfrm>
            <a:off x="8380639" y="2382697"/>
            <a:ext cx="31842075" cy="2794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419070" tIns="838139" rIns="419070" bIns="419070" anchor="ctr" anchorCtr="1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lvl="0" algn="ctr"/>
            <a:r>
              <a:rPr sz="4800">
                <a:latin typeface="Calibri"/>
              </a:rPr>
              <a:t>Neil Tripathi¹, Rahim Chowdhury², Lei Ren³, Amit Sawant³, Birjoo Vaishnav³</a:t>
            </a:r>
          </a:p>
          <a:p>
            <a:r>
              <a:rPr sz="4800">
                <a:latin typeface="Calibri"/>
              </a:rPr>
              <a:t>¹New York University   ²UMD St. Joseph Medical Center   ³University of Maryland School of Medicine, Dept. of Radiation Oncology</a:t>
            </a:r>
          </a:p>
        </p:txBody>
      </p:sp>
      <p:sp>
        <p:nvSpPr>
          <p:cNvPr id="2235" name="Text Box 187"/>
          <p:cNvSpPr txBox="1">
            <a:spLocks noChangeArrowheads="1"/>
          </p:cNvSpPr>
          <p:nvPr/>
        </p:nvSpPr>
        <p:spPr bwMode="auto">
          <a:xfrm>
            <a:off x="8391525" y="2944176"/>
            <a:ext cx="31842075" cy="2162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419070" tIns="419070" rIns="419070" bIns="419070" anchor="ctr" anchorCtr="1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/>
            <a:endParaRPr lang="en-US" sz="4800" dirty="0">
              <a:solidFill>
                <a:schemeClr val="bg1"/>
              </a:solidFill>
              <a:latin typeface="Calibri" pitchFamily="34" charset="0"/>
            </a:endParaRPr>
          </a:p>
        </p:txBody>
      </p:sp>
      <p:sp>
        <p:nvSpPr>
          <p:cNvPr id="2242" name="Text Box 194"/>
          <p:cNvSpPr txBox="1">
            <a:spLocks noChangeArrowheads="1"/>
          </p:cNvSpPr>
          <p:nvPr/>
        </p:nvSpPr>
        <p:spPr bwMode="auto">
          <a:xfrm>
            <a:off x="9125466" y="5738176"/>
            <a:ext cx="9140825" cy="1097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209535" tIns="209535" rIns="209535" bIns="209535" anchor="ctr" anchorCtr="1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54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</a:rPr>
              <a:t>INTRODUCTION</a:t>
            </a:r>
          </a:p>
        </p:txBody>
      </p:sp>
      <p:sp>
        <p:nvSpPr>
          <p:cNvPr id="2246" name="Text Box 198"/>
          <p:cNvSpPr txBox="1">
            <a:spLocks noChangeArrowheads="1"/>
          </p:cNvSpPr>
          <p:nvPr/>
        </p:nvSpPr>
        <p:spPr bwMode="auto">
          <a:xfrm>
            <a:off x="32232599" y="5644225"/>
            <a:ext cx="9140825" cy="1097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209535" tIns="209535" rIns="209535" bIns="209535" anchor="ctr" anchorCtr="1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54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</a:rPr>
              <a:t>DISCUSSION</a:t>
            </a:r>
          </a:p>
        </p:txBody>
      </p:sp>
      <p:sp>
        <p:nvSpPr>
          <p:cNvPr id="2247" name="Text Box 199"/>
          <p:cNvSpPr txBox="1">
            <a:spLocks noChangeArrowheads="1"/>
          </p:cNvSpPr>
          <p:nvPr/>
        </p:nvSpPr>
        <p:spPr bwMode="auto">
          <a:xfrm>
            <a:off x="21763514" y="5734404"/>
            <a:ext cx="9872662" cy="1097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209535" tIns="209535" rIns="209535" bIns="209535" anchor="ctr" anchorCtr="1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54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</a:rPr>
              <a:t>RESULTS</a:t>
            </a:r>
          </a:p>
        </p:txBody>
      </p:sp>
      <p:sp>
        <p:nvSpPr>
          <p:cNvPr id="2289" name="Text Box 241"/>
          <p:cNvSpPr txBox="1">
            <a:spLocks noChangeArrowheads="1"/>
          </p:cNvSpPr>
          <p:nvPr/>
        </p:nvSpPr>
        <p:spPr bwMode="auto">
          <a:xfrm>
            <a:off x="18784113" y="20665440"/>
            <a:ext cx="14720535" cy="19312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83814" tIns="41907" rIns="83814" bIns="41907">
            <a:spAutoFit/>
          </a:bodyPr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sz="2400">
                <a:latin typeface="Calibri"/>
              </a:rPr>
              <a:t>Figure 1. Example CT slices for one patient: original and each perturbation family at a mid severity (top), with difference-from-original maps (bottom). Resolution loss visibly blurs tissue boundaries; intensity perturbations leave structure edges intact.</a:t>
            </a:r>
          </a:p>
        </p:txBody>
      </p:sp>
      <p:sp>
        <p:nvSpPr>
          <p:cNvPr id="2294" name="Text Box 246"/>
          <p:cNvSpPr txBox="1">
            <a:spLocks noChangeArrowheads="1"/>
          </p:cNvSpPr>
          <p:nvPr/>
        </p:nvSpPr>
        <p:spPr bwMode="auto">
          <a:xfrm>
            <a:off x="912813" y="5669280"/>
            <a:ext cx="6581775" cy="1097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209535" tIns="209535" rIns="209535" bIns="209535" anchor="ctr" anchorCtr="0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  <a:latin typeface="Calibri" pitchFamily="34" charset="0"/>
              </a:rPr>
              <a:t>ABSTRACT</a:t>
            </a:r>
          </a:p>
        </p:txBody>
      </p:sp>
      <p:sp>
        <p:nvSpPr>
          <p:cNvPr id="2307" name="Text Box 259"/>
          <p:cNvSpPr txBox="1">
            <a:spLocks noChangeArrowheads="1"/>
          </p:cNvSpPr>
          <p:nvPr/>
        </p:nvSpPr>
        <p:spPr bwMode="auto">
          <a:xfrm>
            <a:off x="9194019" y="15710271"/>
            <a:ext cx="9140825" cy="1097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209535" tIns="209535" rIns="209535" bIns="209535" anchor="ctr" anchorCtr="1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54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</a:rPr>
              <a:t>METHODS AND MATERIALS</a:t>
            </a:r>
          </a:p>
        </p:txBody>
      </p:sp>
      <p:sp>
        <p:nvSpPr>
          <p:cNvPr id="2309" name="Text Box 261"/>
          <p:cNvSpPr txBox="1">
            <a:spLocks noChangeArrowheads="1"/>
          </p:cNvSpPr>
          <p:nvPr/>
        </p:nvSpPr>
        <p:spPr bwMode="auto">
          <a:xfrm>
            <a:off x="32217159" y="20563698"/>
            <a:ext cx="9140825" cy="1097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209535" tIns="209535" rIns="209535" bIns="209535" anchor="ctr" anchorCtr="1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54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</a:rPr>
              <a:t>CONCLUSIONS</a:t>
            </a:r>
          </a:p>
        </p:txBody>
      </p:sp>
      <p:sp>
        <p:nvSpPr>
          <p:cNvPr id="2310" name="Text Box 262"/>
          <p:cNvSpPr txBox="1">
            <a:spLocks noChangeArrowheads="1"/>
          </p:cNvSpPr>
          <p:nvPr/>
        </p:nvSpPr>
        <p:spPr bwMode="auto">
          <a:xfrm>
            <a:off x="21805243" y="35675118"/>
            <a:ext cx="9140825" cy="1097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209535" tIns="209535" rIns="209535" bIns="209535" anchor="ctr" anchorCtr="1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54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</a:rPr>
              <a:t>REFERENCES</a:t>
            </a:r>
          </a:p>
        </p:txBody>
      </p:sp>
      <p:sp>
        <p:nvSpPr>
          <p:cNvPr id="2312" name="Text Box 264"/>
          <p:cNvSpPr txBox="1">
            <a:spLocks noChangeArrowheads="1"/>
          </p:cNvSpPr>
          <p:nvPr/>
        </p:nvSpPr>
        <p:spPr bwMode="auto">
          <a:xfrm>
            <a:off x="685800" y="30937200"/>
            <a:ext cx="6581775" cy="1097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209535" tIns="209535" rIns="209535" bIns="209535" anchor="ctr" anchorCtr="0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  <a:latin typeface="Calibri" pitchFamily="34" charset="0"/>
              </a:rPr>
              <a:t>CONTACT</a:t>
            </a:r>
          </a:p>
        </p:txBody>
      </p:sp>
      <p:sp>
        <p:nvSpPr>
          <p:cNvPr id="2315" name="Text Box 267"/>
          <p:cNvSpPr txBox="1">
            <a:spLocks noChangeArrowheads="1"/>
          </p:cNvSpPr>
          <p:nvPr/>
        </p:nvSpPr>
        <p:spPr bwMode="auto">
          <a:xfrm>
            <a:off x="912813" y="6858000"/>
            <a:ext cx="6581775" cy="86177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lIns="182880" tIns="182880" rIns="182880" bIns="182880">
            <a:spAutoFit/>
          </a:bodyPr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fontAlgn="t">
              <a:lnSpc>
                <a:spcPct val="100000"/>
              </a:lnSpc>
              <a:buNone/>
            </a:pP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2316" name="Text Box 268"/>
          <p:cNvSpPr txBox="1">
            <a:spLocks noChangeArrowheads="1"/>
          </p:cNvSpPr>
          <p:nvPr/>
        </p:nvSpPr>
        <p:spPr bwMode="auto">
          <a:xfrm>
            <a:off x="18826986" y="6866513"/>
            <a:ext cx="14709649" cy="82484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182880" tIns="182880" rIns="182880" bIns="182880">
            <a:spAutoFit/>
          </a:bodyPr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457200" lvl="0" indent="-457200" defTabSz="4023067" fontAlgn="auto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3200">
                <a:latin typeface="+mn-lt"/>
              </a:rPr>
              <a:t>Four of five families leave every DVH criterion below the 1.0 Gy visibility threshold across the entire tested range. Spatial-resolution loss (P4) is the sole failure mode: its worst-affected criterion (larynx near-max dose) crosses 1.0 Gy at L2 (2.0/1.0-voxel blur) and reaches 2.84 Gy at L4 (+18.2% DVH score).</a:t>
            </a:r>
          </a:p>
          <a:p>
            <a:r>
              <a:rPr sz="3200">
                <a:latin typeface="+mn-lt"/>
              </a:rPr>
              <a:t>HU calibration shift becomes measurable only at an implausible 1000 HU bone offset (0.61 Gy, still sub-threshold). Noise, bias field, and dental streaks never exceed 0.34 Gy on any criterion, even beyond ACR-level severities.</a:t>
            </a:r>
          </a:p>
        </p:txBody>
      </p:sp>
      <p:sp>
        <p:nvSpPr>
          <p:cNvPr id="2317" name="Text Box 269"/>
          <p:cNvSpPr txBox="1">
            <a:spLocks noChangeArrowheads="1"/>
          </p:cNvSpPr>
          <p:nvPr/>
        </p:nvSpPr>
        <p:spPr bwMode="auto">
          <a:xfrm>
            <a:off x="34081287" y="6866513"/>
            <a:ext cx="5443450" cy="1325028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lIns="182880" tIns="182880" rIns="182880" bIns="182880">
            <a:noAutofit/>
          </a:bodyPr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lvl="0" defTabSz="4023067" fontAlgn="auto">
              <a:spcBef>
                <a:spcPts val="0"/>
              </a:spcBef>
              <a:spcAft>
                <a:spcPts val="0"/>
              </a:spcAft>
            </a:pPr>
            <a:r>
              <a:rPr sz="3200">
                <a:latin typeface="+mn-lt"/>
              </a:rPr>
              <a:t>The model is robust to intensity-based CT variability — noise, calibration drift, bias field, dental streaks — through and beyond ACR-level severities, because these preserve the structural edges the network uses to localize organ boundaries.</a:t>
            </a:r>
          </a:p>
          <a:p>
            <a:r>
              <a:rPr sz="3200">
                <a:latin typeface="+mn-lt"/>
              </a:rPr>
              <a:t>Spatial-resolution loss removes exactly that edge content, producing boundary-localized dose errors that grow approximately linearly with blur and appear first in geometrically complex structures (larynx, parotids, mandible).</a:t>
            </a:r>
          </a:p>
          <a:p>
            <a:r>
              <a:rPr sz="3200">
                <a:latin typeface="+mn-lt"/>
              </a:rPr>
              <a:t>Because realistic cross-scanner slice-thickness and reconstruction-kernel differences span the severities where P4 becomes visible, spatial resolution — not HU calibration — is the clinically relevant robustness risk.</a:t>
            </a:r>
          </a:p>
        </p:txBody>
      </p:sp>
      <p:sp>
        <p:nvSpPr>
          <p:cNvPr id="2318" name="Text Box 270"/>
          <p:cNvSpPr txBox="1">
            <a:spLocks noChangeArrowheads="1"/>
          </p:cNvSpPr>
          <p:nvPr/>
        </p:nvSpPr>
        <p:spPr bwMode="auto">
          <a:xfrm>
            <a:off x="9194018" y="16803765"/>
            <a:ext cx="9140825" cy="578619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lIns="182880" tIns="182880" rIns="182880" bIns="182880">
            <a:spAutoFit/>
          </a:bodyPr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defTabSz="4023067"/>
            <a:r>
              <a:rPr sz="3200" b="1">
                <a:latin typeface="Calibri"/>
              </a:rPr>
              <a:t>Data set | OpenKBP head-and-neck cohort (Babier et al. 2021): 200 training / 40 test patients; 128³ CT with 10 OAR/PTV structures; dose normalized to a 70 Gy prescription.</a:t>
            </a:r>
          </a:p>
          <a:p>
            <a:r>
              <a:rPr sz="3200" b="1">
                <a:latin typeface="Calibri"/>
              </a:rPr>
              <a:t>Realistic perturbation model | Five families applied to the test-input CT at 5 severity levels each (26 conditions), ranges meeting or exceeding ACR CT-simulation QA:</a:t>
            </a:r>
          </a:p>
          <a:p>
            <a:r>
              <a:rPr sz="3200" b="1">
                <a:latin typeface="Calibri"/>
              </a:rPr>
              <a:t>  P1 heteroscedastic acquisition noise  •  P2 bone-weighted HU calibration shift  •  P3 low-frequency bias field  •  P4 anisotropic resolution loss (Gaussian blur)  •  P5 dental metal streak artifacts.</a:t>
            </a:r>
          </a:p>
          <a:p>
            <a:r>
              <a:rPr sz="3200" b="1">
                <a:latin typeface="Calibri"/>
              </a:rPr>
              <a:t>Impact = ΔDVH and ΔMAE vs each patient’s own clean-CT baseline prediction. Visibility threshold: cohort-mean shift on any DVH criterion &gt; 1.0 Gy.</a:t>
            </a:r>
          </a:p>
        </p:txBody>
      </p:sp>
      <p:sp>
        <p:nvSpPr>
          <p:cNvPr id="2319" name="Text Box 271"/>
          <p:cNvSpPr txBox="1">
            <a:spLocks noChangeArrowheads="1"/>
          </p:cNvSpPr>
          <p:nvPr/>
        </p:nvSpPr>
        <p:spPr bwMode="auto">
          <a:xfrm>
            <a:off x="34081287" y="21660978"/>
            <a:ext cx="5598775" cy="1218795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182880" tIns="182880" rIns="182880" bIns="182880">
            <a:spAutoFit/>
          </a:bodyPr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lvl="0" defTabSz="4023067" fontAlgn="auto">
              <a:spcBef>
                <a:spcPts val="0"/>
              </a:spcBef>
              <a:spcAft>
                <a:spcPts val="0"/>
              </a:spcAft>
            </a:pPr>
            <a:r>
              <a:rPr sz="3200">
                <a:latin typeface="+mn-lt"/>
              </a:rPr>
              <a:t>A head-and-neck deep-learning dose predictor tolerates clinically realistic intensity CT perturbations but is systematically sensitive to spatial-resolution degradation, which becomes clinically visible (&gt;1 Gy on a DVH criterion) within the range of real cross-scanner variation.</a:t>
            </a:r>
          </a:p>
          <a:p>
            <a:r>
              <a:rPr sz="3200">
                <a:latin typeface="+mn-lt"/>
              </a:rPr>
              <a:t>Multi-institution deployment QA should prioritize CT spatial-resolution and reconstruction-kernel consistency over intensity calibration; dose-level (not image-quality) metrics should gate CBCT / synthetic-CT quality.</a:t>
            </a:r>
          </a:p>
        </p:txBody>
      </p:sp>
      <p:sp>
        <p:nvSpPr>
          <p:cNvPr id="2320" name="Text Box 272"/>
          <p:cNvSpPr txBox="1">
            <a:spLocks noChangeArrowheads="1"/>
          </p:cNvSpPr>
          <p:nvPr/>
        </p:nvSpPr>
        <p:spPr bwMode="auto">
          <a:xfrm>
            <a:off x="9194018" y="6864260"/>
            <a:ext cx="9140825" cy="841833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lIns="182880" tIns="182880" rIns="182880" bIns="182880">
            <a:spAutoFit/>
          </a:bodyPr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lvl="0">
              <a:lnSpc>
                <a:spcPct val="115000"/>
              </a:lnSpc>
              <a:spcBef>
                <a:spcPts val="1200"/>
              </a:spcBef>
            </a:pPr>
            <a:r>
              <a:rPr sz="3200">
                <a:latin typeface="+mn-lt"/>
              </a:rPr>
              <a:t>Deep-learning dose prediction supports automated and adaptive treatment planning, but a model trained at one site must generalize to CTs acquired elsewhere — different scanners, kernels, dose levels, and artifacts. Unlike worst-case adversarial attacks, these are benign, physically realistic sources of image variability.</a:t>
            </a:r>
          </a:p>
          <a:p>
            <a:r>
              <a:rPr sz="3200">
                <a:latin typeface="+mn-lt"/>
              </a:rPr>
              <a:t>We ask a clinically framed question: how much CT degradation can a dose-prediction model tolerate before its errors become clinically visible? We answer it per perturbation family, identifying which CT-quality factors actually matter for safe multi-institution deployment.</a:t>
            </a:r>
          </a:p>
        </p:txBody>
      </p:sp>
      <p:sp>
        <p:nvSpPr>
          <p:cNvPr id="2321" name="Text Box 273"/>
          <p:cNvSpPr txBox="1">
            <a:spLocks noChangeArrowheads="1"/>
          </p:cNvSpPr>
          <p:nvPr/>
        </p:nvSpPr>
        <p:spPr bwMode="auto">
          <a:xfrm>
            <a:off x="19144936" y="36772398"/>
            <a:ext cx="14359711" cy="184665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182880" tIns="182880" rIns="182880" bIns="182880">
            <a:spAutoFit/>
          </a:bodyPr>
          <a:lstStyle>
            <a:lvl1pPr marL="419100" indent="-419100"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890588" indent="-314325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309688" indent="-314325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728788" indent="-314325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147888" indent="-314325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605088" indent="-314325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3062288" indent="-314325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519488" indent="-314325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976688" indent="-314325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marL="457200" indent="-457200">
              <a:spcAft>
                <a:spcPct val="50000"/>
              </a:spcAft>
              <a:buFont typeface="+mj-lt"/>
              <a:buAutoNum type="arabicPeriod"/>
            </a:pPr>
            <a:r>
              <a:rPr sz="2400">
                <a:latin typeface="+mn-lt"/>
              </a:rPr>
              <a:t>1. Babier A, Mahon R, McNiven A, Diamant A, Chan TCY. Med Phys. 2021;48:4932-4948 (OpenKBP).</a:t>
            </a:r>
          </a:p>
          <a:p>
            <a:r>
              <a:rPr sz="2400">
                <a:latin typeface="+mn-lt"/>
              </a:rPr>
              <a:t>2. Gao Y, et al. Phys Med Biol. 2025;70:115006.</a:t>
            </a:r>
          </a:p>
          <a:p>
            <a:r>
              <a:rPr sz="2400">
                <a:latin typeface="+mn-lt"/>
              </a:rPr>
              <a:t>3. American College of Radiology. CT Quality Control / Accreditation guidelines.</a:t>
            </a:r>
          </a:p>
        </p:txBody>
      </p:sp>
      <p:sp>
        <p:nvSpPr>
          <p:cNvPr id="2322" name="Text Box 274"/>
          <p:cNvSpPr txBox="1">
            <a:spLocks noChangeArrowheads="1"/>
          </p:cNvSpPr>
          <p:nvPr/>
        </p:nvSpPr>
        <p:spPr bwMode="auto">
          <a:xfrm>
            <a:off x="723901" y="32088931"/>
            <a:ext cx="7667624" cy="25733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lIns="182880" tIns="182880" rIns="182880" bIns="182880"/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4000" dirty="0">
                <a:solidFill>
                  <a:schemeClr val="bg1"/>
                </a:solidFill>
                <a:latin typeface="+mn-lt"/>
              </a:rPr>
              <a:t>Birjoo Vaishnav, PhD, DABR</a:t>
            </a:r>
          </a:p>
          <a:p>
            <a:endParaRPr lang="en-US" sz="4000" dirty="0">
              <a:solidFill>
                <a:schemeClr val="bg1"/>
              </a:solidFill>
              <a:latin typeface="+mn-lt"/>
            </a:endParaRPr>
          </a:p>
          <a:p>
            <a:r>
              <a:rPr lang="en-US" sz="4000" dirty="0">
                <a:solidFill>
                  <a:schemeClr val="bg1"/>
                </a:solidFill>
                <a:latin typeface="+mn-lt"/>
              </a:rPr>
              <a:t>University of Maryland School of Medicine, </a:t>
            </a:r>
          </a:p>
          <a:p>
            <a:r>
              <a:rPr lang="en-US" sz="4000" dirty="0">
                <a:solidFill>
                  <a:schemeClr val="bg1"/>
                </a:solidFill>
                <a:latin typeface="+mn-lt"/>
              </a:rPr>
              <a:t>Baltimore MD </a:t>
            </a:r>
          </a:p>
          <a:p>
            <a:endParaRPr lang="en-US" sz="4000" dirty="0">
              <a:solidFill>
                <a:schemeClr val="bg1"/>
              </a:solidFill>
              <a:latin typeface="+mn-lt"/>
            </a:endParaRPr>
          </a:p>
          <a:p>
            <a:r>
              <a:rPr lang="en-US" sz="4000" dirty="0">
                <a:solidFill>
                  <a:schemeClr val="bg1"/>
                </a:solidFill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bvaishnav@som.umaryland.edu</a:t>
            </a:r>
            <a:r>
              <a:rPr lang="en-US" sz="4000" dirty="0">
                <a:solidFill>
                  <a:schemeClr val="bg1"/>
                </a:solidFill>
                <a:latin typeface="+mn-lt"/>
              </a:rPr>
              <a:t>	</a:t>
            </a:r>
          </a:p>
          <a:p>
            <a:endParaRPr lang="en-US" sz="4000" dirty="0">
              <a:solidFill>
                <a:schemeClr val="bg1"/>
              </a:solidFill>
              <a:latin typeface="+mn-lt"/>
            </a:endParaRPr>
          </a:p>
          <a:p>
            <a:r>
              <a:rPr lang="en-US" sz="4000" dirty="0">
                <a:solidFill>
                  <a:schemeClr val="bg1"/>
                </a:solidFill>
                <a:latin typeface="+mn-lt"/>
              </a:rPr>
              <a:t>410-427-2039(o)</a:t>
            </a:r>
          </a:p>
          <a:p>
            <a:endParaRPr lang="en-US" sz="40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88" name="Text Box 240"/>
          <p:cNvSpPr txBox="1">
            <a:spLocks noChangeArrowheads="1"/>
          </p:cNvSpPr>
          <p:nvPr/>
        </p:nvSpPr>
        <p:spPr bwMode="auto">
          <a:xfrm>
            <a:off x="18942352" y="27432000"/>
            <a:ext cx="14866609" cy="1561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83814" tIns="41907" rIns="83814" bIns="41907">
            <a:spAutoFit/>
          </a:bodyPr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sz="2400">
                <a:latin typeface="Calibri"/>
              </a:rPr>
              <a:t>Figure 2. Worst-case per-criterion DVH shift (Gy) vs severity for each family, with the 1.0 Gy clinical-visibility line. P4 (resolution) crosses between L1 and L2 and keeps climbing; all other families remain near the floor.</a:t>
            </a:r>
          </a:p>
        </p:txBody>
      </p:sp>
      <p:sp>
        <p:nvSpPr>
          <p:cNvPr id="12" name="Google Shape;54;p13">
            <a:extLst>
              <a:ext uri="{FF2B5EF4-FFF2-40B4-BE49-F238E27FC236}">
                <a16:creationId xmlns:a16="http://schemas.microsoft.com/office/drawing/2014/main" id="{8D1FB11F-E15B-3CB7-358B-623C9D0D2437}"/>
              </a:ext>
            </a:extLst>
          </p:cNvPr>
          <p:cNvSpPr txBox="1"/>
          <p:nvPr/>
        </p:nvSpPr>
        <p:spPr>
          <a:xfrm>
            <a:off x="8776811" y="137307"/>
            <a:ext cx="31089600" cy="44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8000" b="1">
                <a:latin typeface="Calibri"/>
              </a:rPr>
              <a:t>Robustness of Deep-Learning Dose Prediction in Head-and-Neck Radiotherapy to Clinically Realistic CT Perturbations</a:t>
            </a:r>
            <a:endParaRPr sz="8000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B534B6-3ABC-312F-3486-D077B2A3C071}"/>
              </a:ext>
            </a:extLst>
          </p:cNvPr>
          <p:cNvSpPr txBox="1"/>
          <p:nvPr/>
        </p:nvSpPr>
        <p:spPr>
          <a:xfrm>
            <a:off x="799306" y="7386722"/>
            <a:ext cx="6612107" cy="13388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latin typeface="Calibri"/>
              </a:rPr>
              <a:t>Deep-learning dose prediction is nearing clinical deployment, where models trained at one institution encounter CTs from different scanners, reconstruction kernels, and imaging practices. We stress-tested a 3D U-Net head-and-neck dose predictor against five families of clinically realistic CT perturbations — acquisition noise, HU calibration shift, low-frequency bias field, spatial-resolution loss, and dental streak artifacts — across 26 conditions on 40 test patients, at severities meeting or exceeding ACR CT-simulation QA.</a:t>
            </a:r>
          </a:p>
          <a:p>
            <a:r>
              <a:rPr sz="3600">
                <a:latin typeface="Calibri"/>
              </a:rPr>
              <a:t>Defining a level as “clinically visible” when the cohort-mean change in any DVH criterion exceeds 1.0 Gy from each patient’s own baseline, four of five families never reach visibility. Only spatial-resolution loss does — crossing 1.0 Gy at a clinically realistic severity (~2 mm-equivalent blur) and rising to 2.84 Gy at the larynx (+18.2% DVH).</a:t>
            </a:r>
          </a:p>
          <a:p>
            <a:r>
              <a:rPr sz="3600">
                <a:latin typeface="Calibri"/>
              </a:rPr>
              <a:t>Cross-institution deployment QA should therefore prioritize CT spatial-resolution and reconstruction-kernel consistency over intensity calibration.</a:t>
            </a:r>
          </a:p>
        </p:txBody>
      </p:sp>
      <p:sp>
        <p:nvSpPr>
          <p:cNvPr id="20" name="Text Box 270">
            <a:extLst>
              <a:ext uri="{FF2B5EF4-FFF2-40B4-BE49-F238E27FC236}">
                <a16:creationId xmlns:a16="http://schemas.microsoft.com/office/drawing/2014/main" id="{B34BC91E-8F25-D0D6-5271-0EFD9AD77C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94018" y="22855740"/>
            <a:ext cx="9140825" cy="437042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lIns="182880" tIns="182880" rIns="182880" bIns="182880">
            <a:spAutoFit/>
          </a:bodyPr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lvl="0" defTabSz="4023067" fontAlgn="auto">
              <a:spcBef>
                <a:spcPts val="0"/>
              </a:spcBef>
              <a:spcAft>
                <a:spcPts val="0"/>
              </a:spcAft>
            </a:pPr>
            <a:r>
              <a:rPr sz="3600" b="1">
                <a:latin typeface="+mn-lt"/>
              </a:rPr>
              <a:t>Dose Prediction Model | 3D U-Net with squeeze-and-excitation blocks; masked MAE loss with 4× PTV weighting. Baseline DVH score 2.54, dose score 3.73 Gy.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9E27DA8-8036-E964-C2E8-16E5897C27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6787" y="27491943"/>
            <a:ext cx="5075291" cy="3383528"/>
          </a:xfrm>
          <a:prstGeom prst="rect">
            <a:avLst/>
          </a:prstGeom>
        </p:spPr>
      </p:pic>
      <p:sp>
        <p:nvSpPr>
          <p:cNvPr id="25" name="Text Box 270">
            <a:extLst>
              <a:ext uri="{FF2B5EF4-FFF2-40B4-BE49-F238E27FC236}">
                <a16:creationId xmlns:a16="http://schemas.microsoft.com/office/drawing/2014/main" id="{574AC1F3-E930-19E2-B337-61F60AFE79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1938" y="31053848"/>
            <a:ext cx="9114321" cy="2769989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182880" tIns="182880" rIns="182880" bIns="182880">
            <a:spAutoFit/>
          </a:bodyPr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lvl="0" defTabSz="4023067" fontAlgn="auto">
              <a:spcBef>
                <a:spcPts val="0"/>
              </a:spcBef>
              <a:spcAft>
                <a:spcPts val="0"/>
              </a:spcAft>
            </a:pPr>
            <a:r>
              <a:rPr sz="3600" b="1">
                <a:latin typeface="+mn-lt"/>
              </a:rPr>
              <a:t/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49BD40-4A26-C58E-95ED-7B3FC4B1A795}"/>
              </a:ext>
            </a:extLst>
          </p:cNvPr>
          <p:cNvSpPr txBox="1"/>
          <p:nvPr/>
        </p:nvSpPr>
        <p:spPr>
          <a:xfrm rot="16200000">
            <a:off x="11583613" y="36109475"/>
            <a:ext cx="4730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8" name="Text Box 240">
            <a:extLst>
              <a:ext uri="{FF2B5EF4-FFF2-40B4-BE49-F238E27FC236}">
                <a16:creationId xmlns:a16="http://schemas.microsoft.com/office/drawing/2014/main" id="{DB860B86-FB67-CA92-C14D-789C68C9A3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4098" y="34930080"/>
            <a:ext cx="14866609" cy="23006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83814" tIns="41907" rIns="83814" bIns="41907">
            <a:spAutoFit/>
          </a:bodyPr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sz="2400">
                <a:latin typeface="Calibri"/>
              </a:rPr>
              <a:t>Figure 3. Predicted dose (top) and difference-from-baseline maps (bottom) per perturbation. Resolution degradation produces spatially structured dose errors concentrated at organ boundaries; other families are near-zero.</a:t>
            </a:r>
          </a:p>
        </p:txBody>
      </p:sp>
      <p:sp>
        <p:nvSpPr>
          <p:cNvPr id="26" name="Text Box 261">
            <a:extLst>
              <a:ext uri="{FF2B5EF4-FFF2-40B4-BE49-F238E27FC236}">
                <a16:creationId xmlns:a16="http://schemas.microsoft.com/office/drawing/2014/main" id="{D880AB77-8003-B5DA-C07F-52EBF4A8BF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17160" y="34378727"/>
            <a:ext cx="9140825" cy="10972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209535" tIns="209535" rIns="209535" bIns="209535" anchor="ctr" anchorCtr="1"/>
          <a:lstStyle>
            <a:lvl1pPr defTabSz="4022725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4022725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4022725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4022725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4022725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4022725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r>
              <a:rPr lang="en-US" sz="54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</a:rPr>
              <a:t>FUTURE WORK</a:t>
            </a:r>
          </a:p>
        </p:txBody>
      </p:sp>
      <p:sp>
        <p:nvSpPr>
          <p:cNvPr id="29" name="Text Box 271">
            <a:extLst>
              <a:ext uri="{FF2B5EF4-FFF2-40B4-BE49-F238E27FC236}">
                <a16:creationId xmlns:a16="http://schemas.microsoft.com/office/drawing/2014/main" id="{2C80FD7E-D22D-80AA-4CB2-2E4ED7A71A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022432" y="35736709"/>
            <a:ext cx="5598775" cy="283154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 lIns="182880" tIns="182880" rIns="182880" bIns="182880">
            <a:spAutoFit/>
          </a:bodyPr>
          <a:lstStyle>
            <a:lvl1pPr defTabSz="83820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419100" defTabSz="83820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838200" defTabSz="8382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257300" defTabSz="8382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1676400" defTabSz="8382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1336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5908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0480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505200" defTabSz="838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lvl="0" defTabSz="4023067" fontAlgn="auto">
              <a:spcBef>
                <a:spcPts val="0"/>
              </a:spcBef>
              <a:spcAft>
                <a:spcPts val="0"/>
              </a:spcAft>
            </a:pPr>
            <a:r>
              <a:rPr sz="3200">
                <a:latin typeface="+mn-lt"/>
              </a:rPr>
              <a:t>Extend the battery to CBCT-characteristic degradations (scatter/cupping, ring artifacts, limited-FOV truncation) for online adaptive-RT commissioning tolerances; provable (certified) and conformal per-patient DVH bounds under bounded CT perturbation; and training-time augmentation to restore the resolution margin.</a:t>
            </a:r>
          </a:p>
        </p:txBody>
      </p:sp>
      <p:pic>
        <p:nvPicPr>
          <p:cNvPr id="2323" name="Picture 2322" descr="ct_slic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928080" y="13990320"/>
            <a:ext cx="14813280" cy="6074272"/>
          </a:xfrm>
          <a:prstGeom prst="rect">
            <a:avLst/>
          </a:prstGeom>
        </p:spPr>
      </p:pic>
      <p:pic>
        <p:nvPicPr>
          <p:cNvPr id="2324" name="Picture 2323" descr="fig_panel5_maxcrit_g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0" y="21579840"/>
            <a:ext cx="9601200" cy="5897880"/>
          </a:xfrm>
          <a:prstGeom prst="rect">
            <a:avLst/>
          </a:prstGeom>
        </p:spPr>
      </p:pic>
      <p:pic>
        <p:nvPicPr>
          <p:cNvPr id="2325" name="Picture 2324" descr="dose_difference_map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928080" y="28529280"/>
            <a:ext cx="14813280" cy="60742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4154</TotalTime>
  <Words>1027</Words>
  <Application>Microsoft Office PowerPoint</Application>
  <PresentationFormat>Custom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>Genigraphics 800.790.4001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44x44</dc:title>
  <dc:creator>Genigraphics 800.790.4001</dc:creator>
  <dc:description>To order poster prints visit us at www.genigraphics.com</dc:description>
  <cp:lastModifiedBy>Vaishnav, Birjoo</cp:lastModifiedBy>
  <cp:revision>60</cp:revision>
  <cp:lastPrinted>2026-07-17T20:33:41Z</cp:lastPrinted>
  <dcterms:created xsi:type="dcterms:W3CDTF">2008-05-03T03:01:56Z</dcterms:created>
  <dcterms:modified xsi:type="dcterms:W3CDTF">2026-07-17T20:35:00Z</dcterms:modified>
</cp:coreProperties>
</file>