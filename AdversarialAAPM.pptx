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sldIdLst>
    <p:sldId id="256" r:id="rId2"/>
  </p:sldIdLst>
  <p:sldSz cx="40233600" cy="402336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72">
          <p15:clr>
            <a:srgbClr val="A4A3A4"/>
          </p15:clr>
        </p15:guide>
        <p15:guide id="2" pos="1267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a Stiles" initials="CS" lastIdx="1" clrIdx="0">
    <p:extLst>
      <p:ext uri="{19B8F6BF-5375-455C-9EA6-DF929625EA0E}">
        <p15:presenceInfo xmlns:p15="http://schemas.microsoft.com/office/powerpoint/2012/main" userId="b35202bb27e0eab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6EA4"/>
    <a:srgbClr val="EAEAEA"/>
    <a:srgbClr val="FFFFFF"/>
    <a:srgbClr val="006699"/>
    <a:srgbClr val="CCECFF"/>
    <a:srgbClr val="F8F8F8"/>
    <a:srgbClr val="FFFF66"/>
    <a:srgbClr val="003A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76" autoAdjust="0"/>
  </p:normalViewPr>
  <p:slideViewPr>
    <p:cSldViewPr>
      <p:cViewPr>
        <p:scale>
          <a:sx n="40" d="100"/>
          <a:sy n="40" d="100"/>
        </p:scale>
        <p:origin x="-3618" y="-5214"/>
      </p:cViewPr>
      <p:guideLst>
        <p:guide orient="horz" pos="12672"/>
        <p:guide pos="126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AE41-977B-4766-9D8E-062B15225330}"/>
              </a:ext>
            </a:extLst>
          </p:cNvPr>
          <p:cNvSpPr>
            <a:spLocks noGrp="1"/>
          </p:cNvSpPr>
          <p:nvPr>
            <p:ph type="ctrTitle"/>
          </p:nvPr>
        </p:nvSpPr>
        <p:spPr>
          <a:xfrm>
            <a:off x="5029200" y="6584530"/>
            <a:ext cx="30175200" cy="14007253"/>
          </a:xfrm>
        </p:spPr>
        <p:txBody>
          <a:bodyPr anchor="b"/>
          <a:lstStyle>
            <a:lvl1pPr algn="ctr">
              <a:defRPr sz="19800"/>
            </a:lvl1pPr>
          </a:lstStyle>
          <a:p>
            <a:r>
              <a:rPr lang="en-US"/>
              <a:t>Click to edit Master title style</a:t>
            </a:r>
          </a:p>
        </p:txBody>
      </p:sp>
      <p:sp>
        <p:nvSpPr>
          <p:cNvPr id="3" name="Subtitle 2">
            <a:extLst>
              <a:ext uri="{FF2B5EF4-FFF2-40B4-BE49-F238E27FC236}">
                <a16:creationId xmlns:a16="http://schemas.microsoft.com/office/drawing/2014/main" id="{672D275C-6EF9-4B15-B6CA-159E1CF0FF89}"/>
              </a:ext>
            </a:extLst>
          </p:cNvPr>
          <p:cNvSpPr>
            <a:spLocks noGrp="1"/>
          </p:cNvSpPr>
          <p:nvPr>
            <p:ph type="subTitle" idx="1"/>
          </p:nvPr>
        </p:nvSpPr>
        <p:spPr>
          <a:xfrm>
            <a:off x="5029200" y="21131956"/>
            <a:ext cx="30175200" cy="9713804"/>
          </a:xfrm>
        </p:spPr>
        <p:txBody>
          <a:bodyPr/>
          <a:lstStyle>
            <a:lvl1pPr marL="0" indent="0" algn="ctr">
              <a:buNone/>
              <a:defRPr sz="7920"/>
            </a:lvl1pPr>
            <a:lvl2pPr marL="1508760" indent="0" algn="ctr">
              <a:buNone/>
              <a:defRPr sz="6600"/>
            </a:lvl2pPr>
            <a:lvl3pPr marL="3017520" indent="0" algn="ctr">
              <a:buNone/>
              <a:defRPr sz="5940"/>
            </a:lvl3pPr>
            <a:lvl4pPr marL="4526280" indent="0" algn="ctr">
              <a:buNone/>
              <a:defRPr sz="5280"/>
            </a:lvl4pPr>
            <a:lvl5pPr marL="6035040" indent="0" algn="ctr">
              <a:buNone/>
              <a:defRPr sz="5280"/>
            </a:lvl5pPr>
            <a:lvl6pPr marL="7543800" indent="0" algn="ctr">
              <a:buNone/>
              <a:defRPr sz="5280"/>
            </a:lvl6pPr>
            <a:lvl7pPr marL="9052560" indent="0" algn="ctr">
              <a:buNone/>
              <a:defRPr sz="5280"/>
            </a:lvl7pPr>
            <a:lvl8pPr marL="10561320" indent="0" algn="ctr">
              <a:buNone/>
              <a:defRPr sz="5280"/>
            </a:lvl8pPr>
            <a:lvl9pPr marL="12070080" indent="0" algn="ctr">
              <a:buNone/>
              <a:defRPr sz="5280"/>
            </a:lvl9pPr>
          </a:lstStyle>
          <a:p>
            <a:r>
              <a:rPr lang="en-US"/>
              <a:t>Click to edit Master subtitle style</a:t>
            </a:r>
          </a:p>
        </p:txBody>
      </p:sp>
      <p:sp>
        <p:nvSpPr>
          <p:cNvPr id="4" name="Date Placeholder 3">
            <a:extLst>
              <a:ext uri="{FF2B5EF4-FFF2-40B4-BE49-F238E27FC236}">
                <a16:creationId xmlns:a16="http://schemas.microsoft.com/office/drawing/2014/main" id="{4703AB26-CF12-4972-82BC-B29BB41D7672}"/>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B0923CD8-BE7E-4750-9069-0EF3E70022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A0FFC-A8BE-4334-8CED-813021EFD436}"/>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62860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388C3-D88A-46AD-A951-6E2E2C3771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809B76-75B0-4452-BB11-9E7D9060D33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26EE5-E33F-41EF-9428-8EDDE4B2042E}"/>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DD952F4A-EC4E-4F11-9B95-0CE7959B9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6BC9A-9463-41C5-B3F4-FF75EE4A3566}"/>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286912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BBEA-D35E-43C5-9A73-C39007CB4D90}"/>
              </a:ext>
            </a:extLst>
          </p:cNvPr>
          <p:cNvSpPr>
            <a:spLocks noGrp="1"/>
          </p:cNvSpPr>
          <p:nvPr>
            <p:ph type="title"/>
          </p:nvPr>
        </p:nvSpPr>
        <p:spPr>
          <a:xfrm>
            <a:off x="2745105" y="10030466"/>
            <a:ext cx="34701480" cy="16736057"/>
          </a:xfrm>
        </p:spPr>
        <p:txBody>
          <a:bodyPr anchor="b"/>
          <a:lstStyle>
            <a:lvl1pPr>
              <a:defRPr sz="19800"/>
            </a:lvl1pPr>
          </a:lstStyle>
          <a:p>
            <a:r>
              <a:rPr lang="en-US"/>
              <a:t>Click to edit Master title style</a:t>
            </a:r>
          </a:p>
        </p:txBody>
      </p:sp>
      <p:sp>
        <p:nvSpPr>
          <p:cNvPr id="3" name="Text Placeholder 2">
            <a:extLst>
              <a:ext uri="{FF2B5EF4-FFF2-40B4-BE49-F238E27FC236}">
                <a16:creationId xmlns:a16="http://schemas.microsoft.com/office/drawing/2014/main" id="{86D0ACA4-3353-4533-B548-D5F6BE946597}"/>
              </a:ext>
            </a:extLst>
          </p:cNvPr>
          <p:cNvSpPr>
            <a:spLocks noGrp="1"/>
          </p:cNvSpPr>
          <p:nvPr>
            <p:ph type="body" idx="1"/>
          </p:nvPr>
        </p:nvSpPr>
        <p:spPr>
          <a:xfrm>
            <a:off x="2745105" y="26924853"/>
            <a:ext cx="34701480" cy="8801097"/>
          </a:xfrm>
        </p:spPr>
        <p:txBody>
          <a:bodyPr/>
          <a:lstStyle>
            <a:lvl1pPr marL="0" indent="0">
              <a:buNone/>
              <a:defRPr sz="7920">
                <a:solidFill>
                  <a:schemeClr val="tx1">
                    <a:tint val="75000"/>
                  </a:schemeClr>
                </a:solidFill>
              </a:defRPr>
            </a:lvl1pPr>
            <a:lvl2pPr marL="1508760" indent="0">
              <a:buNone/>
              <a:defRPr sz="6600">
                <a:solidFill>
                  <a:schemeClr val="tx1">
                    <a:tint val="75000"/>
                  </a:schemeClr>
                </a:solidFill>
              </a:defRPr>
            </a:lvl2pPr>
            <a:lvl3pPr marL="3017520" indent="0">
              <a:buNone/>
              <a:defRPr sz="5940">
                <a:solidFill>
                  <a:schemeClr val="tx1">
                    <a:tint val="75000"/>
                  </a:schemeClr>
                </a:solidFill>
              </a:defRPr>
            </a:lvl3pPr>
            <a:lvl4pPr marL="4526280" indent="0">
              <a:buNone/>
              <a:defRPr sz="5280">
                <a:solidFill>
                  <a:schemeClr val="tx1">
                    <a:tint val="75000"/>
                  </a:schemeClr>
                </a:solidFill>
              </a:defRPr>
            </a:lvl4pPr>
            <a:lvl5pPr marL="6035040" indent="0">
              <a:buNone/>
              <a:defRPr sz="5280">
                <a:solidFill>
                  <a:schemeClr val="tx1">
                    <a:tint val="75000"/>
                  </a:schemeClr>
                </a:solidFill>
              </a:defRPr>
            </a:lvl5pPr>
            <a:lvl6pPr marL="7543800" indent="0">
              <a:buNone/>
              <a:defRPr sz="5280">
                <a:solidFill>
                  <a:schemeClr val="tx1">
                    <a:tint val="75000"/>
                  </a:schemeClr>
                </a:solidFill>
              </a:defRPr>
            </a:lvl6pPr>
            <a:lvl7pPr marL="9052560" indent="0">
              <a:buNone/>
              <a:defRPr sz="5280">
                <a:solidFill>
                  <a:schemeClr val="tx1">
                    <a:tint val="75000"/>
                  </a:schemeClr>
                </a:solidFill>
              </a:defRPr>
            </a:lvl7pPr>
            <a:lvl8pPr marL="10561320" indent="0">
              <a:buNone/>
              <a:defRPr sz="5280">
                <a:solidFill>
                  <a:schemeClr val="tx1">
                    <a:tint val="75000"/>
                  </a:schemeClr>
                </a:solidFill>
              </a:defRPr>
            </a:lvl8pPr>
            <a:lvl9pPr marL="12070080" indent="0">
              <a:buNone/>
              <a:defRPr sz="528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D57A92-2528-43F7-9A2E-01D31E7CEA35}"/>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216BEDF0-54FE-4DE1-88D1-91E17C7EA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BF6A8-23E2-492B-9EF4-2D34D4417E0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45544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D39A-D483-4707-B145-6C2AEF05A7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B06AD5-6A9B-440D-9EE1-896B802788D9}"/>
              </a:ext>
            </a:extLst>
          </p:cNvPr>
          <p:cNvSpPr>
            <a:spLocks noGrp="1"/>
          </p:cNvSpPr>
          <p:nvPr>
            <p:ph sz="half" idx="1"/>
          </p:nvPr>
        </p:nvSpPr>
        <p:spPr>
          <a:xfrm>
            <a:off x="2766060" y="10710333"/>
            <a:ext cx="17099280" cy="25527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37028-172E-4796-B423-A2B992EBB1E2}"/>
              </a:ext>
            </a:extLst>
          </p:cNvPr>
          <p:cNvSpPr>
            <a:spLocks noGrp="1"/>
          </p:cNvSpPr>
          <p:nvPr>
            <p:ph sz="half" idx="2"/>
          </p:nvPr>
        </p:nvSpPr>
        <p:spPr>
          <a:xfrm>
            <a:off x="20368260" y="10710333"/>
            <a:ext cx="17099280" cy="25527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88B7E5-342F-45A2-B9BE-EE15D204E576}"/>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EADCB955-9574-4DAA-AF05-5BAC9340E0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0B01A3-513F-47DD-B58E-63C153561387}"/>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530258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810-0CF5-4A47-86F3-1A95C0275295}"/>
              </a:ext>
            </a:extLst>
          </p:cNvPr>
          <p:cNvSpPr>
            <a:spLocks noGrp="1"/>
          </p:cNvSpPr>
          <p:nvPr>
            <p:ph type="title"/>
          </p:nvPr>
        </p:nvSpPr>
        <p:spPr>
          <a:xfrm>
            <a:off x="2771300" y="2142070"/>
            <a:ext cx="34701480" cy="77766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F0A303-5E56-49AB-AFFF-681167C6EF80}"/>
              </a:ext>
            </a:extLst>
          </p:cNvPr>
          <p:cNvSpPr>
            <a:spLocks noGrp="1"/>
          </p:cNvSpPr>
          <p:nvPr>
            <p:ph type="body" idx="1"/>
          </p:nvPr>
        </p:nvSpPr>
        <p:spPr>
          <a:xfrm>
            <a:off x="2771302" y="9862823"/>
            <a:ext cx="17020697" cy="483361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4" name="Content Placeholder 3">
            <a:extLst>
              <a:ext uri="{FF2B5EF4-FFF2-40B4-BE49-F238E27FC236}">
                <a16:creationId xmlns:a16="http://schemas.microsoft.com/office/drawing/2014/main" id="{32756A75-7E6A-4C85-9E0E-71EB92231349}"/>
              </a:ext>
            </a:extLst>
          </p:cNvPr>
          <p:cNvSpPr>
            <a:spLocks noGrp="1"/>
          </p:cNvSpPr>
          <p:nvPr>
            <p:ph sz="half" idx="2"/>
          </p:nvPr>
        </p:nvSpPr>
        <p:spPr>
          <a:xfrm>
            <a:off x="2771302" y="14696440"/>
            <a:ext cx="17020697" cy="2161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C4CAB8-163C-4AB2-9361-36E9078CF246}"/>
              </a:ext>
            </a:extLst>
          </p:cNvPr>
          <p:cNvSpPr>
            <a:spLocks noGrp="1"/>
          </p:cNvSpPr>
          <p:nvPr>
            <p:ph type="body" sz="quarter" idx="3"/>
          </p:nvPr>
        </p:nvSpPr>
        <p:spPr>
          <a:xfrm>
            <a:off x="20368260" y="9862823"/>
            <a:ext cx="17104520" cy="483361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6" name="Content Placeholder 5">
            <a:extLst>
              <a:ext uri="{FF2B5EF4-FFF2-40B4-BE49-F238E27FC236}">
                <a16:creationId xmlns:a16="http://schemas.microsoft.com/office/drawing/2014/main" id="{EF8391A2-1479-4384-91C2-FB007643D487}"/>
              </a:ext>
            </a:extLst>
          </p:cNvPr>
          <p:cNvSpPr>
            <a:spLocks noGrp="1"/>
          </p:cNvSpPr>
          <p:nvPr>
            <p:ph sz="quarter" idx="4"/>
          </p:nvPr>
        </p:nvSpPr>
        <p:spPr>
          <a:xfrm>
            <a:off x="20368260" y="14696440"/>
            <a:ext cx="17104520" cy="2161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E1354C-9244-4377-B9C1-8F12A7AFE139}"/>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8" name="Footer Placeholder 7">
            <a:extLst>
              <a:ext uri="{FF2B5EF4-FFF2-40B4-BE49-F238E27FC236}">
                <a16:creationId xmlns:a16="http://schemas.microsoft.com/office/drawing/2014/main" id="{2B667047-8FAB-4ED5-8D7F-278E04E86A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4AA354-655A-4F94-87A0-B4BCEC92AE87}"/>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796861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D079B-C228-430A-9F49-44DB09939A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1E05A7-434D-457C-A595-88E05BE86C63}"/>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4" name="Footer Placeholder 3">
            <a:extLst>
              <a:ext uri="{FF2B5EF4-FFF2-40B4-BE49-F238E27FC236}">
                <a16:creationId xmlns:a16="http://schemas.microsoft.com/office/drawing/2014/main" id="{4EC0374A-4F79-4CAA-BA82-77BDBB2203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D50CA2-6CE8-464A-9064-FFFA49D28982}"/>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08035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5C589-C9A3-4CA5-B14F-5F4411610134}"/>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3" name="Footer Placeholder 2">
            <a:extLst>
              <a:ext uri="{FF2B5EF4-FFF2-40B4-BE49-F238E27FC236}">
                <a16:creationId xmlns:a16="http://schemas.microsoft.com/office/drawing/2014/main" id="{0B8B5F20-988F-4544-AF56-93F282FC31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F86342-04D3-4183-B597-DE9FE76CEB20}"/>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72128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238A-575F-48BC-9F63-FCBA61EA56B2}"/>
              </a:ext>
            </a:extLst>
          </p:cNvPr>
          <p:cNvSpPr>
            <a:spLocks noGrp="1"/>
          </p:cNvSpPr>
          <p:nvPr>
            <p:ph type="title"/>
          </p:nvPr>
        </p:nvSpPr>
        <p:spPr>
          <a:xfrm>
            <a:off x="2771302" y="2682240"/>
            <a:ext cx="12976382" cy="9387840"/>
          </a:xfrm>
        </p:spPr>
        <p:txBody>
          <a:bodyPr anchor="b"/>
          <a:lstStyle>
            <a:lvl1pPr>
              <a:defRPr sz="10560"/>
            </a:lvl1pPr>
          </a:lstStyle>
          <a:p>
            <a:r>
              <a:rPr lang="en-US"/>
              <a:t>Click to edit Master title style</a:t>
            </a:r>
          </a:p>
        </p:txBody>
      </p:sp>
      <p:sp>
        <p:nvSpPr>
          <p:cNvPr id="3" name="Content Placeholder 2">
            <a:extLst>
              <a:ext uri="{FF2B5EF4-FFF2-40B4-BE49-F238E27FC236}">
                <a16:creationId xmlns:a16="http://schemas.microsoft.com/office/drawing/2014/main" id="{FEE4D694-F094-4941-88ED-CAC7E7A2B8D1}"/>
              </a:ext>
            </a:extLst>
          </p:cNvPr>
          <p:cNvSpPr>
            <a:spLocks noGrp="1"/>
          </p:cNvSpPr>
          <p:nvPr>
            <p:ph idx="1"/>
          </p:nvPr>
        </p:nvSpPr>
        <p:spPr>
          <a:xfrm>
            <a:off x="17104520" y="5792896"/>
            <a:ext cx="20368260" cy="28591933"/>
          </a:xfrm>
        </p:spPr>
        <p:txBody>
          <a:bodyPr/>
          <a:lstStyle>
            <a:lvl1pPr>
              <a:defRPr sz="10560"/>
            </a:lvl1pPr>
            <a:lvl2pPr>
              <a:defRPr sz="9240"/>
            </a:lvl2pPr>
            <a:lvl3pPr>
              <a:defRPr sz="7920"/>
            </a:lvl3pPr>
            <a:lvl4pPr>
              <a:defRPr sz="6600"/>
            </a:lvl4pPr>
            <a:lvl5pPr>
              <a:defRPr sz="6600"/>
            </a:lvl5pPr>
            <a:lvl6pPr>
              <a:defRPr sz="6600"/>
            </a:lvl6pPr>
            <a:lvl7pPr>
              <a:defRPr sz="6600"/>
            </a:lvl7pPr>
            <a:lvl8pPr>
              <a:defRPr sz="6600"/>
            </a:lvl8pPr>
            <a:lvl9pPr>
              <a:defRPr sz="6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97F101-8487-42C9-9853-96A0F275F294}"/>
              </a:ext>
            </a:extLst>
          </p:cNvPr>
          <p:cNvSpPr>
            <a:spLocks noGrp="1"/>
          </p:cNvSpPr>
          <p:nvPr>
            <p:ph type="body" sz="half" idx="2"/>
          </p:nvPr>
        </p:nvSpPr>
        <p:spPr>
          <a:xfrm>
            <a:off x="2771302" y="12070080"/>
            <a:ext cx="12976382" cy="2236131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a:extLst>
              <a:ext uri="{FF2B5EF4-FFF2-40B4-BE49-F238E27FC236}">
                <a16:creationId xmlns:a16="http://schemas.microsoft.com/office/drawing/2014/main" id="{1D6F9F74-D350-4CEA-87B7-4F8EF2A38F28}"/>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7D2F3CE2-1FF9-4E3B-B77F-10F6A85E73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59DAF-84F0-4FDA-A9E2-6FC11D24482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93965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8E05C-8A4D-46CB-A0F6-701700CC87C6}"/>
              </a:ext>
            </a:extLst>
          </p:cNvPr>
          <p:cNvSpPr>
            <a:spLocks noGrp="1"/>
          </p:cNvSpPr>
          <p:nvPr>
            <p:ph type="title"/>
          </p:nvPr>
        </p:nvSpPr>
        <p:spPr>
          <a:xfrm>
            <a:off x="2771302" y="2682240"/>
            <a:ext cx="12976382" cy="9387840"/>
          </a:xfrm>
        </p:spPr>
        <p:txBody>
          <a:bodyPr anchor="b"/>
          <a:lstStyle>
            <a:lvl1pPr>
              <a:defRPr sz="10560"/>
            </a:lvl1pPr>
          </a:lstStyle>
          <a:p>
            <a:r>
              <a:rPr lang="en-US"/>
              <a:t>Click to edit Master title style</a:t>
            </a:r>
          </a:p>
        </p:txBody>
      </p:sp>
      <p:sp>
        <p:nvSpPr>
          <p:cNvPr id="3" name="Picture Placeholder 2">
            <a:extLst>
              <a:ext uri="{FF2B5EF4-FFF2-40B4-BE49-F238E27FC236}">
                <a16:creationId xmlns:a16="http://schemas.microsoft.com/office/drawing/2014/main" id="{B9E0107F-3F28-44BD-8FA8-4B8BBA15B9CF}"/>
              </a:ext>
            </a:extLst>
          </p:cNvPr>
          <p:cNvSpPr>
            <a:spLocks noGrp="1"/>
          </p:cNvSpPr>
          <p:nvPr>
            <p:ph type="pic" idx="1"/>
          </p:nvPr>
        </p:nvSpPr>
        <p:spPr>
          <a:xfrm>
            <a:off x="17104520" y="5792896"/>
            <a:ext cx="20368260" cy="28591933"/>
          </a:xfrm>
        </p:spPr>
        <p:txBody>
          <a:bodyPr/>
          <a:lstStyle>
            <a:lvl1pPr marL="0" indent="0">
              <a:buNone/>
              <a:defRPr sz="10560"/>
            </a:lvl1pPr>
            <a:lvl2pPr marL="1508760" indent="0">
              <a:buNone/>
              <a:defRPr sz="9240"/>
            </a:lvl2pPr>
            <a:lvl3pPr marL="3017520" indent="0">
              <a:buNone/>
              <a:defRPr sz="7920"/>
            </a:lvl3pPr>
            <a:lvl4pPr marL="4526280" indent="0">
              <a:buNone/>
              <a:defRPr sz="6600"/>
            </a:lvl4pPr>
            <a:lvl5pPr marL="6035040" indent="0">
              <a:buNone/>
              <a:defRPr sz="6600"/>
            </a:lvl5pPr>
            <a:lvl6pPr marL="7543800" indent="0">
              <a:buNone/>
              <a:defRPr sz="6600"/>
            </a:lvl6pPr>
            <a:lvl7pPr marL="9052560" indent="0">
              <a:buNone/>
              <a:defRPr sz="6600"/>
            </a:lvl7pPr>
            <a:lvl8pPr marL="10561320" indent="0">
              <a:buNone/>
              <a:defRPr sz="6600"/>
            </a:lvl8pPr>
            <a:lvl9pPr marL="12070080" indent="0">
              <a:buNone/>
              <a:defRPr sz="6600"/>
            </a:lvl9pPr>
          </a:lstStyle>
          <a:p>
            <a:endParaRPr lang="en-US"/>
          </a:p>
        </p:txBody>
      </p:sp>
      <p:sp>
        <p:nvSpPr>
          <p:cNvPr id="4" name="Text Placeholder 3">
            <a:extLst>
              <a:ext uri="{FF2B5EF4-FFF2-40B4-BE49-F238E27FC236}">
                <a16:creationId xmlns:a16="http://schemas.microsoft.com/office/drawing/2014/main" id="{70DE2F50-7EE1-4C0C-A001-2424D2EA0BA3}"/>
              </a:ext>
            </a:extLst>
          </p:cNvPr>
          <p:cNvSpPr>
            <a:spLocks noGrp="1"/>
          </p:cNvSpPr>
          <p:nvPr>
            <p:ph type="body" sz="half" idx="2"/>
          </p:nvPr>
        </p:nvSpPr>
        <p:spPr>
          <a:xfrm>
            <a:off x="2771302" y="12070080"/>
            <a:ext cx="12976382" cy="2236131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a:extLst>
              <a:ext uri="{FF2B5EF4-FFF2-40B4-BE49-F238E27FC236}">
                <a16:creationId xmlns:a16="http://schemas.microsoft.com/office/drawing/2014/main" id="{E829D406-80AD-4FFA-9374-7D9655E6DB76}"/>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A7979C68-D8F1-4BCC-A90D-9E3AE68F6C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116885-8126-4CA0-9616-7F41C3CA6B49}"/>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77177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94FF-E5AB-4AE9-BA61-439C254B0B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E1618A-4960-4E23-9F9B-EF190CC14D8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F9C04E-2555-45C2-A33A-57C561334207}"/>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3072E42E-58CB-4338-A5B1-C36C35C0D0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69B140-639A-4784-A136-F6170F6C5F54}"/>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964498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9D96F-3994-47E0-B6AB-AC68B045CA64}"/>
              </a:ext>
            </a:extLst>
          </p:cNvPr>
          <p:cNvSpPr>
            <a:spLocks noGrp="1"/>
          </p:cNvSpPr>
          <p:nvPr>
            <p:ph type="title" orient="vert"/>
          </p:nvPr>
        </p:nvSpPr>
        <p:spPr>
          <a:xfrm>
            <a:off x="28792170" y="2142067"/>
            <a:ext cx="8675370" cy="3409611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B07CB7-7F9A-48B5-83F3-67E6F22DBCBF}"/>
              </a:ext>
            </a:extLst>
          </p:cNvPr>
          <p:cNvSpPr>
            <a:spLocks noGrp="1"/>
          </p:cNvSpPr>
          <p:nvPr>
            <p:ph type="body" orient="vert" idx="1"/>
          </p:nvPr>
        </p:nvSpPr>
        <p:spPr>
          <a:xfrm>
            <a:off x="2766060" y="2142067"/>
            <a:ext cx="25523190" cy="3409611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EBD46-16B0-48EF-AF8D-3EB63CB4DF61}"/>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F1B19442-261F-467A-86EE-A302822E7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1E7CB-4E08-43EA-8739-ED1248C953B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214200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3" name="Group 2"/>
          <p:cNvGrpSpPr/>
          <p:nvPr userDrawn="1"/>
        </p:nvGrpSpPr>
        <p:grpSpPr>
          <a:xfrm>
            <a:off x="41071800" y="0"/>
            <a:ext cx="11734800" cy="40233600"/>
            <a:chOff x="33832800" y="0"/>
            <a:chExt cx="12801600" cy="43891200"/>
          </a:xfrm>
        </p:grpSpPr>
        <p:sp>
          <p:nvSpPr>
            <p:cNvPr id="4"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spTree>
    <p:extLst>
      <p:ext uri="{BB962C8B-B14F-4D97-AF65-F5344CB8AC3E}">
        <p14:creationId xmlns:p14="http://schemas.microsoft.com/office/powerpoint/2010/main" val="3244711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8C9F7-52D5-428C-AFDB-81EBF3B84C33}"/>
              </a:ext>
            </a:extLst>
          </p:cNvPr>
          <p:cNvSpPr>
            <a:spLocks noGrp="1"/>
          </p:cNvSpPr>
          <p:nvPr>
            <p:ph type="title"/>
          </p:nvPr>
        </p:nvSpPr>
        <p:spPr>
          <a:xfrm>
            <a:off x="2766060" y="2142070"/>
            <a:ext cx="34701480" cy="77766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39959D-F541-4C08-84D6-25C90342F75D}"/>
              </a:ext>
            </a:extLst>
          </p:cNvPr>
          <p:cNvSpPr>
            <a:spLocks noGrp="1"/>
          </p:cNvSpPr>
          <p:nvPr>
            <p:ph type="body" idx="1"/>
          </p:nvPr>
        </p:nvSpPr>
        <p:spPr>
          <a:xfrm>
            <a:off x="2766060" y="10710333"/>
            <a:ext cx="34701480" cy="255278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D78E7-A578-4203-8CFF-21B786B73C8F}"/>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FB1999EA-67CF-4ECB-9F51-302681A3AD8A}"/>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DD9C65-15DB-4C7A-B277-9F392F50E952}"/>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735EE51A-51D7-4ABB-9EE6-C98170A62AB7}" type="slidenum">
              <a:rPr lang="en-US" smtClean="0"/>
              <a:t>‹#›</a:t>
            </a:fld>
            <a:endParaRPr lang="en-US"/>
          </a:p>
        </p:txBody>
      </p:sp>
      <p:sp>
        <p:nvSpPr>
          <p:cNvPr id="7" name="Rectangle 7">
            <a:extLst>
              <a:ext uri="{FF2B5EF4-FFF2-40B4-BE49-F238E27FC236}">
                <a16:creationId xmlns:a16="http://schemas.microsoft.com/office/drawing/2014/main" id="{12C3ABDF-F1D0-4D14-9A29-5FFAAD788F81}"/>
              </a:ext>
            </a:extLst>
          </p:cNvPr>
          <p:cNvSpPr>
            <a:spLocks noChangeArrowheads="1"/>
          </p:cNvSpPr>
          <p:nvPr userDrawn="1"/>
        </p:nvSpPr>
        <p:spPr bwMode="auto">
          <a:xfrm>
            <a:off x="0" y="5483225"/>
            <a:ext cx="8410575" cy="34747200"/>
          </a:xfrm>
          <a:prstGeom prst="rect">
            <a:avLst/>
          </a:prstGeom>
          <a:solidFill>
            <a:schemeClr val="accent1">
              <a:lumMod val="75000"/>
            </a:schemeClr>
          </a:solidFill>
          <a:ln>
            <a:noFill/>
          </a:ln>
          <a:effectLst/>
        </p:spPr>
        <p:txBody>
          <a:bodyPr wrap="none" lIns="419070" tIns="209535" rIns="419070" bIns="419070"/>
          <a:lstStyle/>
          <a:p>
            <a:pPr algn="ctr" defTabSz="4022725"/>
            <a:endParaRPr lang="en-US" sz="4400" dirty="0">
              <a:latin typeface="Calibri" pitchFamily="34" charset="0"/>
            </a:endParaRPr>
          </a:p>
        </p:txBody>
      </p:sp>
      <p:sp>
        <p:nvSpPr>
          <p:cNvPr id="8" name="Rectangle 8">
            <a:extLst>
              <a:ext uri="{FF2B5EF4-FFF2-40B4-BE49-F238E27FC236}">
                <a16:creationId xmlns:a16="http://schemas.microsoft.com/office/drawing/2014/main" id="{41894445-C117-44CA-BF76-99C5120B541F}"/>
              </a:ext>
            </a:extLst>
          </p:cNvPr>
          <p:cNvSpPr>
            <a:spLocks noChangeArrowheads="1"/>
          </p:cNvSpPr>
          <p:nvPr userDrawn="1"/>
        </p:nvSpPr>
        <p:spPr bwMode="auto">
          <a:xfrm>
            <a:off x="8408987" y="0"/>
            <a:ext cx="31821120" cy="5484813"/>
          </a:xfrm>
          <a:prstGeom prst="rect">
            <a:avLst/>
          </a:prstGeom>
          <a:solidFill>
            <a:schemeClr val="accent1">
              <a:lumMod val="75000"/>
            </a:schemeClr>
          </a:solidFill>
          <a:ln>
            <a:noFill/>
          </a:ln>
          <a:effectLst/>
        </p:spPr>
        <p:txBody>
          <a:bodyPr wrap="none" lIns="457200" tIns="457200" rIns="457200" bIns="457200"/>
          <a:lstStyle/>
          <a:p>
            <a:endParaRPr lang="en-US" dirty="0">
              <a:latin typeface="Calibri" pitchFamily="34" charset="0"/>
            </a:endParaRPr>
          </a:p>
        </p:txBody>
      </p:sp>
      <p:sp>
        <p:nvSpPr>
          <p:cNvPr id="9" name="Rectangle 9">
            <a:extLst>
              <a:ext uri="{FF2B5EF4-FFF2-40B4-BE49-F238E27FC236}">
                <a16:creationId xmlns:a16="http://schemas.microsoft.com/office/drawing/2014/main" id="{4CA1117B-0BC2-4154-8DAD-ADC925F3EA03}"/>
              </a:ext>
            </a:extLst>
          </p:cNvPr>
          <p:cNvSpPr>
            <a:spLocks noChangeArrowheads="1"/>
          </p:cNvSpPr>
          <p:nvPr userDrawn="1"/>
        </p:nvSpPr>
        <p:spPr bwMode="auto">
          <a:xfrm>
            <a:off x="8408987" y="5483225"/>
            <a:ext cx="31821120" cy="34747200"/>
          </a:xfrm>
          <a:prstGeom prst="rect">
            <a:avLst/>
          </a:prstGeom>
          <a:solidFill>
            <a:schemeClr val="accent3">
              <a:lumMod val="20000"/>
              <a:lumOff val="80000"/>
            </a:schemeClr>
          </a:solidFill>
          <a:ln>
            <a:noFill/>
          </a:ln>
          <a:effectLst/>
        </p:spPr>
        <p:txBody>
          <a:bodyPr wrap="none" lIns="457200" tIns="457200" rIns="457200" bIns="457200"/>
          <a:lstStyle/>
          <a:p>
            <a:endParaRPr lang="en-US" dirty="0">
              <a:latin typeface="Calibri" pitchFamily="34" charset="0"/>
            </a:endParaRPr>
          </a:p>
        </p:txBody>
      </p:sp>
      <p:sp>
        <p:nvSpPr>
          <p:cNvPr id="10" name="Line 11">
            <a:extLst>
              <a:ext uri="{FF2B5EF4-FFF2-40B4-BE49-F238E27FC236}">
                <a16:creationId xmlns:a16="http://schemas.microsoft.com/office/drawing/2014/main" id="{55E3723A-6C44-4EEC-A211-7FD61795C9A2}"/>
              </a:ext>
            </a:extLst>
          </p:cNvPr>
          <p:cNvSpPr>
            <a:spLocks noChangeShapeType="1"/>
          </p:cNvSpPr>
          <p:nvPr userDrawn="1"/>
        </p:nvSpPr>
        <p:spPr bwMode="auto">
          <a:xfrm>
            <a:off x="8408988" y="0"/>
            <a:ext cx="0" cy="402209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sp>
        <p:nvSpPr>
          <p:cNvPr id="11" name="Line 12">
            <a:extLst>
              <a:ext uri="{FF2B5EF4-FFF2-40B4-BE49-F238E27FC236}">
                <a16:creationId xmlns:a16="http://schemas.microsoft.com/office/drawing/2014/main" id="{7CFFF8EA-912E-4C1C-8803-644DD9F44032}"/>
              </a:ext>
            </a:extLst>
          </p:cNvPr>
          <p:cNvSpPr>
            <a:spLocks noChangeShapeType="1"/>
          </p:cNvSpPr>
          <p:nvPr userDrawn="1"/>
        </p:nvSpPr>
        <p:spPr bwMode="auto">
          <a:xfrm>
            <a:off x="0" y="5483225"/>
            <a:ext cx="4022090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pic>
        <p:nvPicPr>
          <p:cNvPr id="12" name="Picture 11">
            <a:extLst>
              <a:ext uri="{FF2B5EF4-FFF2-40B4-BE49-F238E27FC236}">
                <a16:creationId xmlns:a16="http://schemas.microsoft.com/office/drawing/2014/main" id="{7F000DC9-F40E-4F7A-800F-56B959C9E80D}"/>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42961795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hyperlink" Target="mailto:bvaishnav@som.umaryland.edu" TargetMode="Externa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4" name="Text Box 186"/>
          <p:cNvSpPr txBox="1">
            <a:spLocks noChangeArrowheads="1"/>
          </p:cNvSpPr>
          <p:nvPr/>
        </p:nvSpPr>
        <p:spPr bwMode="auto">
          <a:xfrm>
            <a:off x="8380639" y="2382697"/>
            <a:ext cx="31842075"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19070" tIns="838139" rIns="419070" bIns="419070"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lvl="0" algn="ctr"/>
            <a:r>
              <a:rPr lang="en-US" sz="4800" dirty="0">
                <a:solidFill>
                  <a:schemeClr val="bg1"/>
                </a:solidFill>
              </a:rPr>
              <a:t>Rahim Chowdhury¹, Neil Tripathi², Lei Ren², Amit Sawant², </a:t>
            </a:r>
            <a:r>
              <a:rPr lang="en-US" sz="4800" dirty="0" err="1">
                <a:solidFill>
                  <a:schemeClr val="bg1"/>
                </a:solidFill>
              </a:rPr>
              <a:t>Weixian</a:t>
            </a:r>
            <a:r>
              <a:rPr lang="en-US" sz="4800" dirty="0">
                <a:solidFill>
                  <a:schemeClr val="bg1"/>
                </a:solidFill>
              </a:rPr>
              <a:t> Liao¹, Birjoo Vaishnav²</a:t>
            </a:r>
          </a:p>
          <a:p>
            <a:pPr lvl="0" algn="ctr"/>
            <a:r>
              <a:rPr lang="en-US" sz="4800" dirty="0">
                <a:solidFill>
                  <a:schemeClr val="bg1"/>
                </a:solidFill>
              </a:rPr>
              <a:t>¹ Veterans Health Administration, Baltimore MD</a:t>
            </a:r>
          </a:p>
          <a:p>
            <a:pPr lvl="0" algn="ctr"/>
            <a:r>
              <a:rPr lang="en-US" sz="4800" dirty="0">
                <a:solidFill>
                  <a:schemeClr val="bg1"/>
                </a:solidFill>
              </a:rPr>
              <a:t>² University of Maryland School of Medicine, Baltimore MD</a:t>
            </a:r>
          </a:p>
        </p:txBody>
      </p:sp>
      <p:sp>
        <p:nvSpPr>
          <p:cNvPr id="2235" name="Text Box 187"/>
          <p:cNvSpPr txBox="1">
            <a:spLocks noChangeArrowheads="1"/>
          </p:cNvSpPr>
          <p:nvPr/>
        </p:nvSpPr>
        <p:spPr bwMode="auto">
          <a:xfrm>
            <a:off x="8391525" y="2944176"/>
            <a:ext cx="3184207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19070" tIns="419070" rIns="419070" bIns="419070"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endParaRPr lang="en-US" sz="4800" dirty="0">
              <a:solidFill>
                <a:schemeClr val="bg1"/>
              </a:solidFill>
              <a:latin typeface="Calibri" pitchFamily="34" charset="0"/>
            </a:endParaRPr>
          </a:p>
        </p:txBody>
      </p:sp>
      <p:sp>
        <p:nvSpPr>
          <p:cNvPr id="2242" name="Text Box 194"/>
          <p:cNvSpPr txBox="1">
            <a:spLocks noChangeArrowheads="1"/>
          </p:cNvSpPr>
          <p:nvPr/>
        </p:nvSpPr>
        <p:spPr bwMode="auto">
          <a:xfrm>
            <a:off x="9125466" y="5738176"/>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INTRODUCTION</a:t>
            </a:r>
          </a:p>
        </p:txBody>
      </p:sp>
      <p:sp>
        <p:nvSpPr>
          <p:cNvPr id="2246" name="Text Box 198"/>
          <p:cNvSpPr txBox="1">
            <a:spLocks noChangeArrowheads="1"/>
          </p:cNvSpPr>
          <p:nvPr/>
        </p:nvSpPr>
        <p:spPr bwMode="auto">
          <a:xfrm>
            <a:off x="32232599" y="5644225"/>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DISCUSSION</a:t>
            </a:r>
          </a:p>
        </p:txBody>
      </p:sp>
      <p:sp>
        <p:nvSpPr>
          <p:cNvPr id="2247" name="Text Box 199"/>
          <p:cNvSpPr txBox="1">
            <a:spLocks noChangeArrowheads="1"/>
          </p:cNvSpPr>
          <p:nvPr/>
        </p:nvSpPr>
        <p:spPr bwMode="auto">
          <a:xfrm>
            <a:off x="21763514" y="5734404"/>
            <a:ext cx="9872662"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RESULTS</a:t>
            </a:r>
          </a:p>
        </p:txBody>
      </p:sp>
      <p:sp>
        <p:nvSpPr>
          <p:cNvPr id="2289" name="Text Box 241"/>
          <p:cNvSpPr txBox="1">
            <a:spLocks noChangeArrowheads="1"/>
          </p:cNvSpPr>
          <p:nvPr/>
        </p:nvSpPr>
        <p:spPr bwMode="auto">
          <a:xfrm>
            <a:off x="18784113" y="20517318"/>
            <a:ext cx="14720535" cy="193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2400" dirty="0">
                <a:solidFill>
                  <a:schemeClr val="accent1">
                    <a:lumMod val="50000"/>
                  </a:schemeClr>
                </a:solidFill>
                <a:cs typeface="Arial" panose="020B0604020202020204" pitchFamily="34" charset="0"/>
              </a:rPr>
              <a:t>Figure 1 demonstrates that perturbations induce asymmetric responses across  regions of the target DVH. Coverage-related metrics exhibit progressive deviation with  increasing perturbation strength, while hotspot-related metrics follow a distinct and monotonic escalation pattern. These behaviors highlight that acceptable average  performance can coexist with clinically relevant endpoint drift, underscoring the need for </a:t>
            </a:r>
          </a:p>
          <a:p>
            <a:r>
              <a:rPr lang="en-US" sz="2400" dirty="0">
                <a:solidFill>
                  <a:schemeClr val="accent1">
                    <a:lumMod val="50000"/>
                  </a:schemeClr>
                </a:solidFill>
                <a:cs typeface="Arial" panose="020B0604020202020204" pitchFamily="34" charset="0"/>
              </a:rPr>
              <a:t>robustness-aware evaluation.  </a:t>
            </a:r>
          </a:p>
        </p:txBody>
      </p:sp>
      <p:sp>
        <p:nvSpPr>
          <p:cNvPr id="2294" name="Text Box 246"/>
          <p:cNvSpPr txBox="1">
            <a:spLocks noChangeArrowheads="1"/>
          </p:cNvSpPr>
          <p:nvPr/>
        </p:nvSpPr>
        <p:spPr bwMode="auto">
          <a:xfrm>
            <a:off x="912813" y="5669280"/>
            <a:ext cx="658177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ABSTRACT</a:t>
            </a:r>
          </a:p>
        </p:txBody>
      </p:sp>
      <p:sp>
        <p:nvSpPr>
          <p:cNvPr id="2307" name="Text Box 259"/>
          <p:cNvSpPr txBox="1">
            <a:spLocks noChangeArrowheads="1"/>
          </p:cNvSpPr>
          <p:nvPr/>
        </p:nvSpPr>
        <p:spPr bwMode="auto">
          <a:xfrm>
            <a:off x="9194019" y="15710271"/>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METHODS AND MATERIALS</a:t>
            </a:r>
          </a:p>
        </p:txBody>
      </p:sp>
      <p:sp>
        <p:nvSpPr>
          <p:cNvPr id="2309" name="Text Box 261"/>
          <p:cNvSpPr txBox="1">
            <a:spLocks noChangeArrowheads="1"/>
          </p:cNvSpPr>
          <p:nvPr/>
        </p:nvSpPr>
        <p:spPr bwMode="auto">
          <a:xfrm>
            <a:off x="32217159" y="20563698"/>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CONCLUSIONS</a:t>
            </a:r>
          </a:p>
        </p:txBody>
      </p:sp>
      <p:sp>
        <p:nvSpPr>
          <p:cNvPr id="2310" name="Text Box 262"/>
          <p:cNvSpPr txBox="1">
            <a:spLocks noChangeArrowheads="1"/>
          </p:cNvSpPr>
          <p:nvPr/>
        </p:nvSpPr>
        <p:spPr bwMode="auto">
          <a:xfrm>
            <a:off x="21805243" y="35675118"/>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REFERENCES</a:t>
            </a:r>
          </a:p>
        </p:txBody>
      </p:sp>
      <p:sp>
        <p:nvSpPr>
          <p:cNvPr id="2312" name="Text Box 264"/>
          <p:cNvSpPr txBox="1">
            <a:spLocks noChangeArrowheads="1"/>
          </p:cNvSpPr>
          <p:nvPr/>
        </p:nvSpPr>
        <p:spPr bwMode="auto">
          <a:xfrm>
            <a:off x="685800" y="30937200"/>
            <a:ext cx="658177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CONTACT</a:t>
            </a:r>
          </a:p>
        </p:txBody>
      </p:sp>
      <p:sp>
        <p:nvSpPr>
          <p:cNvPr id="2315" name="Text Box 267"/>
          <p:cNvSpPr txBox="1">
            <a:spLocks noChangeArrowheads="1"/>
          </p:cNvSpPr>
          <p:nvPr/>
        </p:nvSpPr>
        <p:spPr bwMode="auto">
          <a:xfrm>
            <a:off x="912813" y="6858000"/>
            <a:ext cx="6581775" cy="861774"/>
          </a:xfrm>
          <a:prstGeom prst="rect">
            <a:avLst/>
          </a:prstGeom>
          <a:solidFill>
            <a:schemeClr val="accent1">
              <a:lumMod val="75000"/>
            </a:schemeClr>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fontAlgn="t">
              <a:lnSpc>
                <a:spcPct val="100000"/>
              </a:lnSpc>
              <a:buNone/>
            </a:pPr>
            <a:endParaRPr lang="en-US" sz="3200" dirty="0">
              <a:solidFill>
                <a:schemeClr val="bg1"/>
              </a:solidFill>
            </a:endParaRPr>
          </a:p>
        </p:txBody>
      </p:sp>
      <p:sp>
        <p:nvSpPr>
          <p:cNvPr id="2316" name="Text Box 268"/>
          <p:cNvSpPr txBox="1">
            <a:spLocks noChangeArrowheads="1"/>
          </p:cNvSpPr>
          <p:nvPr/>
        </p:nvSpPr>
        <p:spPr bwMode="auto">
          <a:xfrm>
            <a:off x="18826986" y="6866513"/>
            <a:ext cx="14709649" cy="8248412"/>
          </a:xfrm>
          <a:prstGeom prst="rect">
            <a:avLst/>
          </a:prstGeom>
          <a:solidFill>
            <a:schemeClr val="bg1"/>
          </a:solid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marL="457200" lvl="0" indent="-457200" defTabSz="4023067" fontAlgn="auto">
              <a:spcBef>
                <a:spcPts val="0"/>
              </a:spcBef>
              <a:spcAft>
                <a:spcPts val="0"/>
              </a:spcAft>
              <a:buFont typeface="Arial" panose="020B0604020202020204" pitchFamily="34" charset="0"/>
              <a:buChar char="•"/>
            </a:pPr>
            <a:r>
              <a:rPr lang="en-US" sz="3200" dirty="0">
                <a:solidFill>
                  <a:prstClr val="black"/>
                </a:solidFill>
                <a:latin typeface="+mn-lt"/>
              </a:rPr>
              <a:t>Measurable </a:t>
            </a:r>
            <a:r>
              <a:rPr lang="en-US" sz="3200" dirty="0" err="1">
                <a:solidFill>
                  <a:prstClr val="black"/>
                </a:solidFill>
                <a:latin typeface="+mn-lt"/>
              </a:rPr>
              <a:t>dosimetric</a:t>
            </a:r>
            <a:r>
              <a:rPr lang="en-US" sz="3200" dirty="0">
                <a:solidFill>
                  <a:prstClr val="black"/>
                </a:solidFill>
                <a:latin typeface="+mn-lt"/>
              </a:rPr>
              <a:t> changes were observed even at the smallest perturbation level (ε = 0.001), with decreases in PTV coverage metrics and increases in hotspot metrics.</a:t>
            </a:r>
          </a:p>
          <a:p>
            <a:pPr marL="457200" lvl="0" indent="-457200" defTabSz="4023067" fontAlgn="auto">
              <a:spcBef>
                <a:spcPts val="0"/>
              </a:spcBef>
              <a:spcAft>
                <a:spcPts val="0"/>
              </a:spcAft>
              <a:buFont typeface="Arial" panose="020B0604020202020204" pitchFamily="34" charset="0"/>
              <a:buChar char="•"/>
            </a:pPr>
            <a:r>
              <a:rPr lang="en-US" sz="3200" dirty="0">
                <a:solidFill>
                  <a:prstClr val="black"/>
                </a:solidFill>
                <a:latin typeface="+mn-lt"/>
              </a:rPr>
              <a:t>Increasing perturbation magnitude produced progressive degradation in target coverage, with D95 reductions reaching 6-9% at ε = 0.01 and exceeding 15% at ε = 0.05.</a:t>
            </a:r>
          </a:p>
          <a:p>
            <a:pPr marL="457200" lvl="0" indent="-457200" defTabSz="4023067" fontAlgn="auto">
              <a:spcBef>
                <a:spcPts val="0"/>
              </a:spcBef>
              <a:spcAft>
                <a:spcPts val="0"/>
              </a:spcAft>
              <a:buFont typeface="Arial" panose="020B0604020202020204" pitchFamily="34" charset="0"/>
              <a:buChar char="•"/>
            </a:pPr>
            <a:r>
              <a:rPr lang="en-US" sz="3200" dirty="0">
                <a:solidFill>
                  <a:prstClr val="black"/>
                </a:solidFill>
                <a:latin typeface="+mn-lt"/>
              </a:rPr>
              <a:t>OAR endpoints demonstrated similar sensitivity, with notable increases in D0.1cc, V30, and V50, indicating reduced sparing robustness at higher perturbation levels.</a:t>
            </a:r>
          </a:p>
          <a:p>
            <a:pPr marL="457200" lvl="0" indent="-457200" defTabSz="4023067" fontAlgn="auto">
              <a:spcBef>
                <a:spcPts val="0"/>
              </a:spcBef>
              <a:spcAft>
                <a:spcPts val="0"/>
              </a:spcAft>
              <a:buFont typeface="Arial" panose="020B0604020202020204" pitchFamily="34" charset="0"/>
              <a:buChar char="•"/>
            </a:pPr>
            <a:r>
              <a:rPr lang="en-US" sz="3200" dirty="0">
                <a:solidFill>
                  <a:prstClr val="black"/>
                </a:solidFill>
                <a:latin typeface="+mn-lt"/>
              </a:rPr>
              <a:t>Both FGSM and PGD attacks resulted in increasing prediction error and performance degradation as ε increased, with PGD consistently producing larger effects than FGSM.</a:t>
            </a:r>
          </a:p>
          <a:p>
            <a:pPr marL="457200" lvl="0" indent="-457200" defTabSz="4023067" fontAlgn="auto">
              <a:spcBef>
                <a:spcPts val="0"/>
              </a:spcBef>
              <a:spcAft>
                <a:spcPts val="0"/>
              </a:spcAft>
              <a:buFont typeface="Arial" panose="020B0604020202020204" pitchFamily="34" charset="0"/>
              <a:buChar char="•"/>
            </a:pPr>
            <a:r>
              <a:rPr lang="en-US" sz="3200" dirty="0">
                <a:solidFill>
                  <a:prstClr val="black"/>
                </a:solidFill>
                <a:latin typeface="+mn-lt"/>
              </a:rPr>
              <a:t>The greatest degradation occurred at the highest perturbation magnitudes, demonstrating that deep learning dose prediction models are vulnerable to structured input perturbations.</a:t>
            </a:r>
          </a:p>
          <a:p>
            <a:pPr lvl="0" defTabSz="4023067" fontAlgn="auto">
              <a:spcBef>
                <a:spcPts val="0"/>
              </a:spcBef>
              <a:spcAft>
                <a:spcPts val="0"/>
              </a:spcAft>
            </a:pPr>
            <a:r>
              <a:rPr lang="en-US" sz="3200" dirty="0">
                <a:solidFill>
                  <a:prstClr val="black"/>
                </a:solidFill>
                <a:latin typeface="+mn-lt"/>
              </a:rPr>
              <a:t>Key Finding: Small CT intensity perturbations can lead to clinically meaningful changes in predicted dose distributions despite strong baseline model performance.</a:t>
            </a:r>
          </a:p>
        </p:txBody>
      </p:sp>
      <p:sp>
        <p:nvSpPr>
          <p:cNvPr id="2317" name="Text Box 269"/>
          <p:cNvSpPr txBox="1">
            <a:spLocks noChangeArrowheads="1"/>
          </p:cNvSpPr>
          <p:nvPr/>
        </p:nvSpPr>
        <p:spPr bwMode="auto">
          <a:xfrm>
            <a:off x="34081287" y="6866513"/>
            <a:ext cx="5443450" cy="13250287"/>
          </a:xfrm>
          <a:prstGeom prst="rect">
            <a:avLst/>
          </a:prstGeom>
          <a:solidFill>
            <a:schemeClr val="bg1"/>
          </a:solidFill>
          <a:ln>
            <a:noFill/>
          </a:ln>
          <a:effectLst/>
        </p:spPr>
        <p:txBody>
          <a:bodyPr lIns="182880" tIns="182880" rIns="182880" bIns="182880">
            <a:no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0"/>
              </a:spcAft>
            </a:pPr>
            <a:r>
              <a:rPr lang="en-US" sz="3200" dirty="0">
                <a:solidFill>
                  <a:prstClr val="black"/>
                </a:solidFill>
                <a:latin typeface="+mn-lt"/>
              </a:rPr>
              <a:t>Deep learning dose prediction models demonstrated increasing sensitivity to CT perturbations as adversarial magnitude increased. While overall prediction accuracy remained acceptable under nominal conditions, clinically relevant DVH metrics showed measurable degradation even at small perturbation levels. PGD attacks produced greater degradation than FGSM attacks, suggesting that iterative perturbations more effectively exploit vulnerabilities in the learned dose mapping. These findings indicate that conventional accuracy metrics alone may not adequately characterize model reliability and that robustness testing can reveal important failure modes not observed during standard validation.</a:t>
            </a:r>
          </a:p>
        </p:txBody>
      </p:sp>
      <p:sp>
        <p:nvSpPr>
          <p:cNvPr id="2318" name="Text Box 270"/>
          <p:cNvSpPr txBox="1">
            <a:spLocks noChangeArrowheads="1"/>
          </p:cNvSpPr>
          <p:nvPr/>
        </p:nvSpPr>
        <p:spPr bwMode="auto">
          <a:xfrm>
            <a:off x="9194018" y="16803765"/>
            <a:ext cx="9140825" cy="5786199"/>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4023067"/>
            <a:r>
              <a:rPr lang="en-US" sz="3200" b="1" dirty="0">
                <a:solidFill>
                  <a:prstClr val="black"/>
                </a:solidFill>
              </a:rPr>
              <a:t>Data set</a:t>
            </a:r>
          </a:p>
          <a:p>
            <a:pPr lvl="0" defTabSz="4023067" fontAlgn="auto">
              <a:spcBef>
                <a:spcPts val="0"/>
              </a:spcBef>
              <a:spcAft>
                <a:spcPts val="0"/>
              </a:spcAft>
            </a:pPr>
            <a:r>
              <a:rPr lang="en-US" sz="3200" dirty="0">
                <a:solidFill>
                  <a:prstClr val="black"/>
                </a:solidFill>
                <a:latin typeface="+mn-lt"/>
              </a:rPr>
              <a:t>Our framework is created using the </a:t>
            </a:r>
          </a:p>
          <a:p>
            <a:pPr lvl="0" defTabSz="4023067" fontAlgn="auto">
              <a:spcBef>
                <a:spcPts val="0"/>
              </a:spcBef>
              <a:spcAft>
                <a:spcPts val="0"/>
              </a:spcAft>
            </a:pPr>
            <a:r>
              <a:rPr lang="en-US" sz="3200" dirty="0">
                <a:solidFill>
                  <a:prstClr val="black"/>
                </a:solidFill>
                <a:latin typeface="+mn-lt"/>
              </a:rPr>
              <a:t>Open Knowledge-Based Planning (</a:t>
            </a:r>
            <a:r>
              <a:rPr lang="en-US" sz="3200" dirty="0" err="1">
                <a:solidFill>
                  <a:prstClr val="black"/>
                </a:solidFill>
                <a:latin typeface="+mn-lt"/>
              </a:rPr>
              <a:t>OpenKBP</a:t>
            </a:r>
            <a:r>
              <a:rPr lang="en-US" sz="3200" dirty="0">
                <a:solidFill>
                  <a:prstClr val="black"/>
                </a:solidFill>
                <a:latin typeface="+mn-lt"/>
              </a:rPr>
              <a:t>) dataset, a publicly available benchmark for radiotherapy dose prediction. </a:t>
            </a:r>
          </a:p>
          <a:p>
            <a:pPr lvl="0" defTabSz="4023067" fontAlgn="auto">
              <a:spcBef>
                <a:spcPts val="0"/>
              </a:spcBef>
              <a:spcAft>
                <a:spcPts val="0"/>
              </a:spcAft>
            </a:pPr>
            <a:r>
              <a:rPr lang="en-US" sz="3200" dirty="0">
                <a:solidFill>
                  <a:prstClr val="black"/>
                </a:solidFill>
                <a:latin typeface="+mn-lt"/>
              </a:rPr>
              <a:t>340 Head and Neck Patients</a:t>
            </a:r>
          </a:p>
          <a:p>
            <a:pPr lvl="0" defTabSz="4023067" fontAlgn="auto">
              <a:spcBef>
                <a:spcPts val="0"/>
              </a:spcBef>
              <a:spcAft>
                <a:spcPts val="0"/>
              </a:spcAft>
            </a:pPr>
            <a:r>
              <a:rPr lang="en-US" sz="3200" dirty="0">
                <a:solidFill>
                  <a:prstClr val="black"/>
                </a:solidFill>
                <a:latin typeface="+mn-lt"/>
              </a:rPr>
              <a:t>Anonymized CT Images with PTV &amp; OAR Contours</a:t>
            </a:r>
          </a:p>
          <a:p>
            <a:pPr lvl="0" defTabSz="4023067" fontAlgn="auto">
              <a:spcBef>
                <a:spcPts val="0"/>
              </a:spcBef>
              <a:spcAft>
                <a:spcPts val="0"/>
              </a:spcAft>
            </a:pPr>
            <a:r>
              <a:rPr lang="en-US" sz="3200" dirty="0">
                <a:solidFill>
                  <a:prstClr val="black"/>
                </a:solidFill>
                <a:latin typeface="+mn-lt"/>
              </a:rPr>
              <a:t>70/63/56 Gy Prescriptions</a:t>
            </a:r>
          </a:p>
          <a:p>
            <a:pPr lvl="0" defTabSz="4023067" fontAlgn="auto">
              <a:spcBef>
                <a:spcPts val="0"/>
              </a:spcBef>
              <a:spcAft>
                <a:spcPts val="0"/>
              </a:spcAft>
            </a:pPr>
            <a:r>
              <a:rPr lang="en-US" sz="3200" dirty="0">
                <a:solidFill>
                  <a:prstClr val="black"/>
                </a:solidFill>
                <a:latin typeface="+mn-lt"/>
              </a:rPr>
              <a:t>Organs at Risk contoured: </a:t>
            </a:r>
          </a:p>
          <a:p>
            <a:pPr lvl="0" defTabSz="4023067" fontAlgn="auto">
              <a:spcBef>
                <a:spcPts val="0"/>
              </a:spcBef>
              <a:spcAft>
                <a:spcPts val="0"/>
              </a:spcAft>
            </a:pPr>
            <a:r>
              <a:rPr lang="en-US" sz="3200" dirty="0">
                <a:solidFill>
                  <a:prstClr val="black"/>
                </a:solidFill>
                <a:latin typeface="+mn-lt"/>
              </a:rPr>
              <a:t>Brainstem, Spinal Cord, Parotids, Larynx, Mandible, Esophagus</a:t>
            </a:r>
          </a:p>
        </p:txBody>
      </p:sp>
      <p:sp>
        <p:nvSpPr>
          <p:cNvPr id="2319" name="Text Box 271"/>
          <p:cNvSpPr txBox="1">
            <a:spLocks noChangeArrowheads="1"/>
          </p:cNvSpPr>
          <p:nvPr/>
        </p:nvSpPr>
        <p:spPr bwMode="auto">
          <a:xfrm>
            <a:off x="34081287" y="21660978"/>
            <a:ext cx="5598775" cy="12187952"/>
          </a:xfrm>
          <a:prstGeom prst="rect">
            <a:avLst/>
          </a:prstGeom>
          <a:solidFill>
            <a:schemeClr val="bg1"/>
          </a:solid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0"/>
              </a:spcAft>
            </a:pPr>
            <a:r>
              <a:rPr lang="en-US" sz="3200" dirty="0">
                <a:solidFill>
                  <a:prstClr val="black"/>
                </a:solidFill>
                <a:latin typeface="+mn-lt"/>
              </a:rPr>
              <a:t>We adopted adversarial perturbation as a diagnostic tool for robustness of AI models in radiotherapeutic dose prediction. From this study few key points emerge relevant to clinical practice.</a:t>
            </a:r>
          </a:p>
          <a:p>
            <a:pPr lvl="0" defTabSz="4023067" fontAlgn="auto">
              <a:spcBef>
                <a:spcPts val="0"/>
              </a:spcBef>
              <a:spcAft>
                <a:spcPts val="0"/>
              </a:spcAft>
            </a:pPr>
            <a:endParaRPr lang="en-US" sz="3200" dirty="0">
              <a:solidFill>
                <a:prstClr val="black"/>
              </a:solidFill>
              <a:latin typeface="+mn-lt"/>
            </a:endParaRPr>
          </a:p>
          <a:p>
            <a:pPr lvl="0" defTabSz="4023067" fontAlgn="auto">
              <a:spcBef>
                <a:spcPts val="0"/>
              </a:spcBef>
              <a:spcAft>
                <a:spcPts val="0"/>
              </a:spcAft>
            </a:pPr>
            <a:r>
              <a:rPr lang="en-US" sz="3200" dirty="0">
                <a:solidFill>
                  <a:prstClr val="black"/>
                </a:solidFill>
                <a:latin typeface="+mn-lt"/>
              </a:rPr>
              <a:t>Accurate AI models are not necessarily robust AI models.</a:t>
            </a:r>
          </a:p>
          <a:p>
            <a:pPr lvl="0" defTabSz="4023067" fontAlgn="auto">
              <a:spcBef>
                <a:spcPts val="0"/>
              </a:spcBef>
              <a:spcAft>
                <a:spcPts val="0"/>
              </a:spcAft>
            </a:pPr>
            <a:endParaRPr lang="en-US" sz="3200" dirty="0">
              <a:solidFill>
                <a:prstClr val="black"/>
              </a:solidFill>
              <a:latin typeface="+mn-lt"/>
            </a:endParaRPr>
          </a:p>
          <a:p>
            <a:pPr lvl="0" defTabSz="4023067" fontAlgn="auto">
              <a:spcBef>
                <a:spcPts val="0"/>
              </a:spcBef>
              <a:spcAft>
                <a:spcPts val="0"/>
              </a:spcAft>
            </a:pPr>
            <a:r>
              <a:rPr lang="en-US" sz="3200" dirty="0">
                <a:solidFill>
                  <a:prstClr val="black"/>
                </a:solidFill>
                <a:latin typeface="+mn-lt"/>
              </a:rPr>
              <a:t>Small CT perturbations can produce measurable </a:t>
            </a:r>
            <a:r>
              <a:rPr lang="en-US" sz="3200" dirty="0" err="1">
                <a:solidFill>
                  <a:prstClr val="black"/>
                </a:solidFill>
                <a:latin typeface="+mn-lt"/>
              </a:rPr>
              <a:t>dosimetric</a:t>
            </a:r>
            <a:r>
              <a:rPr lang="en-US" sz="3200" dirty="0">
                <a:solidFill>
                  <a:prstClr val="black"/>
                </a:solidFill>
                <a:latin typeface="+mn-lt"/>
              </a:rPr>
              <a:t> changes.</a:t>
            </a:r>
          </a:p>
          <a:p>
            <a:pPr lvl="0" defTabSz="4023067" fontAlgn="auto">
              <a:spcBef>
                <a:spcPts val="0"/>
              </a:spcBef>
              <a:spcAft>
                <a:spcPts val="0"/>
              </a:spcAft>
            </a:pPr>
            <a:endParaRPr lang="en-US" sz="3200" dirty="0">
              <a:solidFill>
                <a:prstClr val="black"/>
              </a:solidFill>
              <a:latin typeface="+mn-lt"/>
            </a:endParaRPr>
          </a:p>
          <a:p>
            <a:pPr lvl="0" defTabSz="4023067" fontAlgn="auto">
              <a:spcBef>
                <a:spcPts val="0"/>
              </a:spcBef>
              <a:spcAft>
                <a:spcPts val="0"/>
              </a:spcAft>
            </a:pPr>
            <a:r>
              <a:rPr lang="en-US" sz="3200" dirty="0">
                <a:solidFill>
                  <a:prstClr val="black"/>
                </a:solidFill>
                <a:latin typeface="+mn-lt"/>
              </a:rPr>
              <a:t>Robustness testing can identify vulnerabilities not captured by standard validation.</a:t>
            </a:r>
          </a:p>
          <a:p>
            <a:pPr lvl="0" defTabSz="4023067" fontAlgn="auto">
              <a:spcBef>
                <a:spcPts val="0"/>
              </a:spcBef>
              <a:spcAft>
                <a:spcPts val="0"/>
              </a:spcAft>
            </a:pPr>
            <a:endParaRPr lang="en-US" sz="3200" dirty="0">
              <a:solidFill>
                <a:prstClr val="black"/>
              </a:solidFill>
              <a:latin typeface="+mn-lt"/>
            </a:endParaRPr>
          </a:p>
          <a:p>
            <a:pPr lvl="0" defTabSz="4023067" fontAlgn="auto">
              <a:spcBef>
                <a:spcPts val="0"/>
              </a:spcBef>
              <a:spcAft>
                <a:spcPts val="0"/>
              </a:spcAft>
            </a:pPr>
            <a:r>
              <a:rPr lang="en-US" sz="3200" dirty="0">
                <a:solidFill>
                  <a:prstClr val="black"/>
                </a:solidFill>
                <a:latin typeface="+mn-lt"/>
              </a:rPr>
              <a:t>Incorporating robustness evaluation may improve confidence in clinical deployment of AI-based planning tools.</a:t>
            </a:r>
          </a:p>
        </p:txBody>
      </p:sp>
      <p:sp>
        <p:nvSpPr>
          <p:cNvPr id="2320" name="Text Box 272"/>
          <p:cNvSpPr txBox="1">
            <a:spLocks noChangeArrowheads="1"/>
          </p:cNvSpPr>
          <p:nvPr/>
        </p:nvSpPr>
        <p:spPr bwMode="auto">
          <a:xfrm>
            <a:off x="9194018" y="6864260"/>
            <a:ext cx="9140825" cy="8418330"/>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nSpc>
                <a:spcPct val="115000"/>
              </a:lnSpc>
              <a:spcBef>
                <a:spcPts val="1200"/>
              </a:spcBef>
            </a:pPr>
            <a:r>
              <a:rPr lang="en-US" sz="3200" dirty="0">
                <a:latin typeface="+mn-lt"/>
              </a:rPr>
              <a:t>Deep learning-based treatment planning models are increasingly being deployed clinically, yet their evaluation is typically limited to prediction accuracy under standard test conditions. Consequently, model robustness to input variability and uncertainty remains poorly understood. Accuracy-based assessments may overlook vulnerabilities that can affect clinically relevant outputs.</a:t>
            </a:r>
          </a:p>
          <a:p>
            <a:pPr lvl="0">
              <a:lnSpc>
                <a:spcPct val="115000"/>
              </a:lnSpc>
              <a:spcBef>
                <a:spcPts val="1200"/>
              </a:spcBef>
            </a:pPr>
            <a:r>
              <a:rPr lang="en-US" sz="3200" dirty="0">
                <a:latin typeface="+mn-lt"/>
              </a:rPr>
              <a:t>To stress-test model performance, we apply FGSM and PGD adversarial perturbations to CT inputs. These methods generate small, targeted input changes designed to maximize output deviations, enabling systematic evaluation of robustness and model sensitivity.</a:t>
            </a:r>
          </a:p>
        </p:txBody>
      </p:sp>
      <p:sp>
        <p:nvSpPr>
          <p:cNvPr id="2321" name="Text Box 273"/>
          <p:cNvSpPr txBox="1">
            <a:spLocks noChangeArrowheads="1"/>
          </p:cNvSpPr>
          <p:nvPr/>
        </p:nvSpPr>
        <p:spPr bwMode="auto">
          <a:xfrm>
            <a:off x="19144936" y="36772398"/>
            <a:ext cx="14359711" cy="1846659"/>
          </a:xfrm>
          <a:prstGeom prst="rect">
            <a:avLst/>
          </a:prstGeom>
          <a:solidFill>
            <a:schemeClr val="bg1"/>
          </a:solidFill>
          <a:ln>
            <a:noFill/>
          </a:ln>
          <a:effectLst/>
        </p:spPr>
        <p:txBody>
          <a:bodyPr wrap="square" lIns="182880" tIns="182880" rIns="182880" bIns="182880">
            <a:spAutoFit/>
          </a:bodyPr>
          <a:lstStyle>
            <a:lvl1pPr marL="419100" indent="-419100" defTabSz="838200">
              <a:defRPr>
                <a:solidFill>
                  <a:schemeClr val="tx1"/>
                </a:solidFill>
                <a:latin typeface="Arial" pitchFamily="34" charset="0"/>
              </a:defRPr>
            </a:lvl1pPr>
            <a:lvl2pPr marL="890588" indent="-314325" defTabSz="838200">
              <a:defRPr>
                <a:solidFill>
                  <a:schemeClr val="tx1"/>
                </a:solidFill>
                <a:latin typeface="Arial" pitchFamily="34" charset="0"/>
              </a:defRPr>
            </a:lvl2pPr>
            <a:lvl3pPr marL="1309688" indent="-314325" defTabSz="838200">
              <a:defRPr>
                <a:solidFill>
                  <a:schemeClr val="tx1"/>
                </a:solidFill>
                <a:latin typeface="Arial" pitchFamily="34" charset="0"/>
              </a:defRPr>
            </a:lvl3pPr>
            <a:lvl4pPr marL="1728788" indent="-314325" defTabSz="838200">
              <a:defRPr>
                <a:solidFill>
                  <a:schemeClr val="tx1"/>
                </a:solidFill>
                <a:latin typeface="Arial" pitchFamily="34" charset="0"/>
              </a:defRPr>
            </a:lvl4pPr>
            <a:lvl5pPr marL="2147888" indent="-314325" defTabSz="838200">
              <a:defRPr>
                <a:solidFill>
                  <a:schemeClr val="tx1"/>
                </a:solidFill>
                <a:latin typeface="Arial" pitchFamily="34" charset="0"/>
              </a:defRPr>
            </a:lvl5pPr>
            <a:lvl6pPr marL="2605088" indent="-314325" defTabSz="838200" fontAlgn="base">
              <a:spcBef>
                <a:spcPct val="0"/>
              </a:spcBef>
              <a:spcAft>
                <a:spcPct val="0"/>
              </a:spcAft>
              <a:defRPr>
                <a:solidFill>
                  <a:schemeClr val="tx1"/>
                </a:solidFill>
                <a:latin typeface="Arial" pitchFamily="34" charset="0"/>
              </a:defRPr>
            </a:lvl6pPr>
            <a:lvl7pPr marL="3062288" indent="-314325" defTabSz="838200" fontAlgn="base">
              <a:spcBef>
                <a:spcPct val="0"/>
              </a:spcBef>
              <a:spcAft>
                <a:spcPct val="0"/>
              </a:spcAft>
              <a:defRPr>
                <a:solidFill>
                  <a:schemeClr val="tx1"/>
                </a:solidFill>
                <a:latin typeface="Arial" pitchFamily="34" charset="0"/>
              </a:defRPr>
            </a:lvl7pPr>
            <a:lvl8pPr marL="3519488" indent="-314325" defTabSz="838200" fontAlgn="base">
              <a:spcBef>
                <a:spcPct val="0"/>
              </a:spcBef>
              <a:spcAft>
                <a:spcPct val="0"/>
              </a:spcAft>
              <a:defRPr>
                <a:solidFill>
                  <a:schemeClr val="tx1"/>
                </a:solidFill>
                <a:latin typeface="Arial" pitchFamily="34" charset="0"/>
              </a:defRPr>
            </a:lvl8pPr>
            <a:lvl9pPr marL="3976688" indent="-314325" defTabSz="838200" fontAlgn="base">
              <a:spcBef>
                <a:spcPct val="0"/>
              </a:spcBef>
              <a:spcAft>
                <a:spcPct val="0"/>
              </a:spcAft>
              <a:defRPr>
                <a:solidFill>
                  <a:schemeClr val="tx1"/>
                </a:solidFill>
                <a:latin typeface="Arial" pitchFamily="34" charset="0"/>
              </a:defRPr>
            </a:lvl9pPr>
          </a:lstStyle>
          <a:p>
            <a:pPr marL="457200" indent="-457200">
              <a:spcAft>
                <a:spcPct val="50000"/>
              </a:spcAft>
              <a:buFont typeface="+mj-lt"/>
              <a:buAutoNum type="arabicPeriod"/>
            </a:pPr>
            <a:r>
              <a:rPr lang="en-US" sz="2400" dirty="0" err="1">
                <a:latin typeface="+mn-lt"/>
              </a:rPr>
              <a:t>Babier</a:t>
            </a:r>
            <a:r>
              <a:rPr lang="en-US" sz="2400" dirty="0">
                <a:latin typeface="+mn-lt"/>
              </a:rPr>
              <a:t> A, Mahon R, McNiven A, Diamant A, Chan TCY. Med Phys. 2021;48:4932-4948.</a:t>
            </a:r>
          </a:p>
          <a:p>
            <a:pPr marL="457200" indent="-457200">
              <a:spcAft>
                <a:spcPct val="50000"/>
              </a:spcAft>
              <a:buFont typeface="+mj-lt"/>
              <a:buAutoNum type="arabicPeriod"/>
            </a:pPr>
            <a:r>
              <a:rPr lang="en-US" sz="2400" dirty="0" err="1">
                <a:latin typeface="+mn-lt"/>
              </a:rPr>
              <a:t>Ronneberger</a:t>
            </a:r>
            <a:r>
              <a:rPr lang="en-US" sz="2400" dirty="0">
                <a:latin typeface="+mn-lt"/>
              </a:rPr>
              <a:t> O, Fischer P, Brox T. MICCAI. 2015;234-241.</a:t>
            </a:r>
          </a:p>
          <a:p>
            <a:pPr marL="457200" indent="-457200">
              <a:spcAft>
                <a:spcPct val="50000"/>
              </a:spcAft>
              <a:buFont typeface="+mj-lt"/>
              <a:buAutoNum type="arabicPeriod"/>
            </a:pPr>
            <a:r>
              <a:rPr lang="en-US" sz="2400" dirty="0">
                <a:latin typeface="+mn-lt"/>
              </a:rPr>
              <a:t>Goodfellow IJ, </a:t>
            </a:r>
            <a:r>
              <a:rPr lang="en-US" sz="2400" dirty="0" err="1">
                <a:latin typeface="+mn-lt"/>
              </a:rPr>
              <a:t>Shlens</a:t>
            </a:r>
            <a:r>
              <a:rPr lang="en-US" sz="2400" dirty="0">
                <a:latin typeface="+mn-lt"/>
              </a:rPr>
              <a:t> J, Szegedy C. ICLR. 2015. </a:t>
            </a:r>
          </a:p>
        </p:txBody>
      </p:sp>
      <p:sp>
        <p:nvSpPr>
          <p:cNvPr id="2322" name="Text Box 274"/>
          <p:cNvSpPr txBox="1">
            <a:spLocks noChangeArrowheads="1"/>
          </p:cNvSpPr>
          <p:nvPr/>
        </p:nvSpPr>
        <p:spPr bwMode="auto">
          <a:xfrm>
            <a:off x="723901" y="32088931"/>
            <a:ext cx="7667624" cy="2573338"/>
          </a:xfrm>
          <a:prstGeom prst="rect">
            <a:avLst/>
          </a:prstGeom>
          <a:solidFill>
            <a:schemeClr val="accent1">
              <a:lumMod val="75000"/>
            </a:schemeClr>
          </a:solidFill>
          <a:ln>
            <a:noFill/>
          </a:ln>
          <a:effectLst/>
        </p:spPr>
        <p:txBody>
          <a:bodyPr lIns="182880" tIns="182880" rIns="182880" bIns="182880"/>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r>
              <a:rPr lang="en-US" sz="4000" dirty="0">
                <a:solidFill>
                  <a:schemeClr val="bg1"/>
                </a:solidFill>
                <a:latin typeface="+mn-lt"/>
              </a:rPr>
              <a:t>Birjoo Vaishnav, PhD, DABR</a:t>
            </a:r>
          </a:p>
          <a:p>
            <a:endParaRPr lang="en-US" sz="4000" dirty="0">
              <a:solidFill>
                <a:schemeClr val="bg1"/>
              </a:solidFill>
              <a:latin typeface="+mn-lt"/>
            </a:endParaRPr>
          </a:p>
          <a:p>
            <a:r>
              <a:rPr lang="en-US" sz="4000" dirty="0">
                <a:solidFill>
                  <a:schemeClr val="bg1"/>
                </a:solidFill>
                <a:latin typeface="+mn-lt"/>
              </a:rPr>
              <a:t>University of Maryland School of Medicine, </a:t>
            </a:r>
          </a:p>
          <a:p>
            <a:r>
              <a:rPr lang="en-US" sz="4000" dirty="0">
                <a:solidFill>
                  <a:schemeClr val="bg1"/>
                </a:solidFill>
                <a:latin typeface="+mn-lt"/>
              </a:rPr>
              <a:t>Baltimore MD </a:t>
            </a:r>
          </a:p>
          <a:p>
            <a:endParaRPr lang="en-US" sz="4000" dirty="0">
              <a:solidFill>
                <a:schemeClr val="bg1"/>
              </a:solidFill>
              <a:latin typeface="+mn-lt"/>
            </a:endParaRPr>
          </a:p>
          <a:p>
            <a:r>
              <a:rPr lang="en-US" sz="4000" dirty="0">
                <a:solidFill>
                  <a:schemeClr val="bg1"/>
                </a:solidFill>
                <a:latin typeface="+mn-lt"/>
                <a:hlinkClick r:id="rId2">
                  <a:extLst>
                    <a:ext uri="{A12FA001-AC4F-418D-AE19-62706E023703}">
                      <ahyp:hlinkClr xmlns:ahyp="http://schemas.microsoft.com/office/drawing/2018/hyperlinkcolor" val="tx"/>
                    </a:ext>
                  </a:extLst>
                </a:hlinkClick>
              </a:rPr>
              <a:t>bvaishnav@som.umaryland.edu</a:t>
            </a:r>
            <a:r>
              <a:rPr lang="en-US" sz="4000" dirty="0">
                <a:solidFill>
                  <a:schemeClr val="bg1"/>
                </a:solidFill>
                <a:latin typeface="+mn-lt"/>
              </a:rPr>
              <a:t>	</a:t>
            </a:r>
          </a:p>
          <a:p>
            <a:endParaRPr lang="en-US" sz="4000" dirty="0">
              <a:solidFill>
                <a:schemeClr val="bg1"/>
              </a:solidFill>
              <a:latin typeface="+mn-lt"/>
            </a:endParaRPr>
          </a:p>
          <a:p>
            <a:r>
              <a:rPr lang="en-US" sz="4000" dirty="0">
                <a:solidFill>
                  <a:schemeClr val="bg1"/>
                </a:solidFill>
                <a:latin typeface="+mn-lt"/>
              </a:rPr>
              <a:t>410-427-2039(o)</a:t>
            </a:r>
          </a:p>
          <a:p>
            <a:endParaRPr lang="en-US" sz="4000" dirty="0">
              <a:solidFill>
                <a:schemeClr val="bg1"/>
              </a:solidFill>
              <a:latin typeface="+mn-lt"/>
            </a:endParaRPr>
          </a:p>
        </p:txBody>
      </p:sp>
      <p:sp>
        <p:nvSpPr>
          <p:cNvPr id="2288" name="Text Box 240"/>
          <p:cNvSpPr txBox="1">
            <a:spLocks noChangeArrowheads="1"/>
          </p:cNvSpPr>
          <p:nvPr/>
        </p:nvSpPr>
        <p:spPr bwMode="auto">
          <a:xfrm>
            <a:off x="18942352" y="26351465"/>
            <a:ext cx="14866609" cy="156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2400" dirty="0">
                <a:solidFill>
                  <a:schemeClr val="accent1">
                    <a:lumMod val="50000"/>
                  </a:schemeClr>
                </a:solidFill>
                <a:cs typeface="Arial" panose="020B0604020202020204" pitchFamily="34" charset="0"/>
              </a:rPr>
              <a:t>Figure 2 above demonstrates OAR robustness under adversarial perturbations. Relative  percentage change in OAR dose and volume metrics with respect to the unperturbed adversarial baseline (</a:t>
            </a:r>
            <a:r>
              <a:rPr lang="el-GR" sz="2400" dirty="0">
                <a:solidFill>
                  <a:schemeClr val="accent1">
                    <a:lumMod val="50000"/>
                  </a:schemeClr>
                </a:solidFill>
                <a:cs typeface="Arial" panose="020B0604020202020204" pitchFamily="34" charset="0"/>
              </a:rPr>
              <a:t>ε = 0): (</a:t>
            </a:r>
            <a:r>
              <a:rPr lang="en-US" sz="2400" dirty="0">
                <a:solidFill>
                  <a:schemeClr val="accent1">
                    <a:lumMod val="50000"/>
                  </a:schemeClr>
                </a:solidFill>
                <a:cs typeface="Arial" panose="020B0604020202020204" pitchFamily="34" charset="0"/>
              </a:rPr>
              <a:t>A) D0.1cc, (B) V30, and (C) V50, shown for multiple  organs across increasing perturbation magnitudes </a:t>
            </a:r>
            <a:r>
              <a:rPr lang="el-GR" sz="2400" dirty="0">
                <a:solidFill>
                  <a:schemeClr val="accent1">
                    <a:lumMod val="50000"/>
                  </a:schemeClr>
                </a:solidFill>
                <a:cs typeface="Arial" panose="020B0604020202020204" pitchFamily="34" charset="0"/>
              </a:rPr>
              <a:t>ε. </a:t>
            </a:r>
            <a:r>
              <a:rPr lang="en-US" sz="2400" dirty="0">
                <a:solidFill>
                  <a:schemeClr val="accent1">
                    <a:lumMod val="50000"/>
                  </a:schemeClr>
                </a:solidFill>
                <a:cs typeface="Arial" panose="020B0604020202020204" pitchFamily="34" charset="0"/>
              </a:rPr>
              <a:t>Volume-based endpoints exhibit  greater sensitivity than maximum-dose metrics at higher </a:t>
            </a:r>
            <a:r>
              <a:rPr lang="el-GR" sz="2400" dirty="0">
                <a:solidFill>
                  <a:schemeClr val="accent1">
                    <a:lumMod val="50000"/>
                  </a:schemeClr>
                </a:solidFill>
                <a:cs typeface="Arial" panose="020B0604020202020204" pitchFamily="34" charset="0"/>
              </a:rPr>
              <a:t>ε.</a:t>
            </a:r>
            <a:r>
              <a:rPr lang="en-US" sz="2400" dirty="0">
                <a:solidFill>
                  <a:schemeClr val="accent1">
                    <a:lumMod val="50000"/>
                  </a:schemeClr>
                </a:solidFill>
                <a:cs typeface="Arial" panose="020B0604020202020204" pitchFamily="34" charset="0"/>
              </a:rPr>
              <a:t> </a:t>
            </a:r>
          </a:p>
        </p:txBody>
      </p:sp>
      <p:pic>
        <p:nvPicPr>
          <p:cNvPr id="10" name="Picture 9" descr="A logo for the vancouver impact&#10;&#10;AI-generated content may be incorrect.">
            <a:extLst>
              <a:ext uri="{FF2B5EF4-FFF2-40B4-BE49-F238E27FC236}">
                <a16:creationId xmlns:a16="http://schemas.microsoft.com/office/drawing/2014/main" id="{CF97E219-6F42-EAA9-4FEF-2F412CE6E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415257"/>
            <a:ext cx="6839120" cy="4691093"/>
          </a:xfrm>
          <a:prstGeom prst="rect">
            <a:avLst/>
          </a:prstGeom>
        </p:spPr>
      </p:pic>
      <p:sp>
        <p:nvSpPr>
          <p:cNvPr id="12" name="Google Shape;54;p13">
            <a:extLst>
              <a:ext uri="{FF2B5EF4-FFF2-40B4-BE49-F238E27FC236}">
                <a16:creationId xmlns:a16="http://schemas.microsoft.com/office/drawing/2014/main" id="{8D1FB11F-E15B-3CB7-358B-623C9D0D2437}"/>
              </a:ext>
            </a:extLst>
          </p:cNvPr>
          <p:cNvSpPr txBox="1"/>
          <p:nvPr/>
        </p:nvSpPr>
        <p:spPr>
          <a:xfrm>
            <a:off x="8776811" y="137307"/>
            <a:ext cx="31089600" cy="445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0" b="1" dirty="0">
                <a:solidFill>
                  <a:schemeClr val="bg1"/>
                </a:solidFill>
              </a:rPr>
              <a:t>Adversarial Robustness Evaluation of AI Based Dose Prediction Models Using Clinical DVH Metrics</a:t>
            </a:r>
            <a:endParaRPr sz="8000" b="1" dirty="0">
              <a:solidFill>
                <a:schemeClr val="bg1"/>
              </a:solidFill>
            </a:endParaRPr>
          </a:p>
        </p:txBody>
      </p:sp>
      <p:sp>
        <p:nvSpPr>
          <p:cNvPr id="15" name="TextBox 14">
            <a:extLst>
              <a:ext uri="{FF2B5EF4-FFF2-40B4-BE49-F238E27FC236}">
                <a16:creationId xmlns:a16="http://schemas.microsoft.com/office/drawing/2014/main" id="{F9B534B6-3ABC-312F-3486-D077B2A3C071}"/>
              </a:ext>
            </a:extLst>
          </p:cNvPr>
          <p:cNvSpPr txBox="1"/>
          <p:nvPr/>
        </p:nvSpPr>
        <p:spPr>
          <a:xfrm>
            <a:off x="799306" y="7386722"/>
            <a:ext cx="6612107" cy="13388280"/>
          </a:xfrm>
          <a:prstGeom prst="rect">
            <a:avLst/>
          </a:prstGeom>
          <a:noFill/>
        </p:spPr>
        <p:txBody>
          <a:bodyPr wrap="square">
            <a:spAutoFit/>
          </a:bodyPr>
          <a:lstStyle/>
          <a:p>
            <a:r>
              <a:rPr lang="en-US" sz="3600" dirty="0">
                <a:solidFill>
                  <a:schemeClr val="bg1"/>
                </a:solidFill>
              </a:rPr>
              <a:t>Deep learning–based dose prediction models are increasingly used in radiotherapy, yet their robustness to input uncertainty remains poorly understood. We developed a framework to evaluate  3D head-and-neck dose prediction models by applying controlled adversarial perturbations to CT images and assessing changes in clinically relevant dose-volume metrics. Results demonstrated measurable degradation in target coverage and organ-at-risk sparing, even for small perturbations, with effects increasing systematically as perturbation magnitude increased. These findings highlight the importance of incorporating robustness testing and uncertainty assessment into the development and clinical evaluation of AI-based dose prediction models</a:t>
            </a:r>
          </a:p>
        </p:txBody>
      </p:sp>
      <p:pic>
        <p:nvPicPr>
          <p:cNvPr id="17" name="Picture 16">
            <a:extLst>
              <a:ext uri="{FF2B5EF4-FFF2-40B4-BE49-F238E27FC236}">
                <a16:creationId xmlns:a16="http://schemas.microsoft.com/office/drawing/2014/main" id="{6E76CB66-6B83-7FBD-8612-578F246DB5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42353" y="15864026"/>
            <a:ext cx="14562296" cy="4336454"/>
          </a:xfrm>
          <a:prstGeom prst="rect">
            <a:avLst/>
          </a:prstGeom>
        </p:spPr>
      </p:pic>
      <p:pic>
        <p:nvPicPr>
          <p:cNvPr id="19" name="Picture 18">
            <a:extLst>
              <a:ext uri="{FF2B5EF4-FFF2-40B4-BE49-F238E27FC236}">
                <a16:creationId xmlns:a16="http://schemas.microsoft.com/office/drawing/2014/main" id="{717D18AC-80BB-C698-6E41-308B69085E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815" y="22922612"/>
            <a:ext cx="14453834" cy="2991843"/>
          </a:xfrm>
          <a:prstGeom prst="rect">
            <a:avLst/>
          </a:prstGeom>
        </p:spPr>
      </p:pic>
      <p:sp>
        <p:nvSpPr>
          <p:cNvPr id="20" name="Text Box 270">
            <a:extLst>
              <a:ext uri="{FF2B5EF4-FFF2-40B4-BE49-F238E27FC236}">
                <a16:creationId xmlns:a16="http://schemas.microsoft.com/office/drawing/2014/main" id="{B34BC91E-8F25-D0D6-5271-0EFD9AD77C6D}"/>
              </a:ext>
            </a:extLst>
          </p:cNvPr>
          <p:cNvSpPr txBox="1">
            <a:spLocks noChangeArrowheads="1"/>
          </p:cNvSpPr>
          <p:nvPr/>
        </p:nvSpPr>
        <p:spPr bwMode="auto">
          <a:xfrm>
            <a:off x="9194018" y="22855740"/>
            <a:ext cx="9140825" cy="4370427"/>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0"/>
              </a:spcAft>
            </a:pPr>
            <a:r>
              <a:rPr lang="en-US" sz="3600" b="1" dirty="0">
                <a:solidFill>
                  <a:prstClr val="black"/>
                </a:solidFill>
                <a:latin typeface="+mn-lt"/>
              </a:rPr>
              <a:t>Dose Prediction Model </a:t>
            </a:r>
          </a:p>
          <a:p>
            <a:pPr lvl="0" defTabSz="4023067" fontAlgn="auto">
              <a:spcBef>
                <a:spcPts val="0"/>
              </a:spcBef>
              <a:spcAft>
                <a:spcPts val="0"/>
              </a:spcAft>
            </a:pPr>
            <a:r>
              <a:rPr lang="en-US" sz="3200" dirty="0">
                <a:solidFill>
                  <a:prstClr val="black"/>
                </a:solidFill>
                <a:latin typeface="+mn-lt"/>
              </a:rPr>
              <a:t>3D U-Net architecture</a:t>
            </a:r>
          </a:p>
          <a:p>
            <a:pPr lvl="0" defTabSz="4023067" fontAlgn="auto">
              <a:spcBef>
                <a:spcPts val="0"/>
              </a:spcBef>
              <a:spcAft>
                <a:spcPts val="0"/>
              </a:spcAft>
            </a:pPr>
            <a:r>
              <a:rPr lang="en-US" sz="3200" dirty="0">
                <a:solidFill>
                  <a:prstClr val="black"/>
                </a:solidFill>
                <a:latin typeface="+mn-lt"/>
              </a:rPr>
              <a:t>Data split: 200 Training, 40 validation, 100 test plans</a:t>
            </a:r>
          </a:p>
          <a:p>
            <a:pPr lvl="0" defTabSz="4023067" fontAlgn="auto">
              <a:spcBef>
                <a:spcPts val="0"/>
              </a:spcBef>
              <a:spcAft>
                <a:spcPts val="0"/>
              </a:spcAft>
            </a:pPr>
            <a:r>
              <a:rPr lang="en-US" sz="3200" dirty="0">
                <a:solidFill>
                  <a:prstClr val="black"/>
                </a:solidFill>
                <a:latin typeface="+mn-lt"/>
              </a:rPr>
              <a:t>Encoder-decoder network with skip connections</a:t>
            </a:r>
          </a:p>
          <a:p>
            <a:pPr lvl="0" defTabSz="4023067" fontAlgn="auto">
              <a:spcBef>
                <a:spcPts val="0"/>
              </a:spcBef>
              <a:spcAft>
                <a:spcPts val="0"/>
              </a:spcAft>
            </a:pPr>
            <a:r>
              <a:rPr lang="en-US" sz="3200" dirty="0">
                <a:solidFill>
                  <a:prstClr val="black"/>
                </a:solidFill>
                <a:latin typeface="+mn-lt"/>
              </a:rPr>
              <a:t>Inputs: CT image + structure masks</a:t>
            </a:r>
          </a:p>
          <a:p>
            <a:pPr lvl="0" defTabSz="4023067" fontAlgn="auto">
              <a:spcBef>
                <a:spcPts val="0"/>
              </a:spcBef>
              <a:spcAft>
                <a:spcPts val="0"/>
              </a:spcAft>
            </a:pPr>
            <a:r>
              <a:rPr lang="en-US" sz="3200" dirty="0">
                <a:solidFill>
                  <a:prstClr val="black"/>
                </a:solidFill>
                <a:latin typeface="+mn-lt"/>
              </a:rPr>
              <a:t>Output: voxel-wise 3D dose distribution</a:t>
            </a:r>
          </a:p>
          <a:p>
            <a:pPr lvl="0" defTabSz="4023067" fontAlgn="auto">
              <a:spcBef>
                <a:spcPts val="0"/>
              </a:spcBef>
              <a:spcAft>
                <a:spcPts val="0"/>
              </a:spcAft>
            </a:pPr>
            <a:r>
              <a:rPr lang="en-US" sz="3200" dirty="0">
                <a:solidFill>
                  <a:prstClr val="black"/>
                </a:solidFill>
                <a:latin typeface="+mn-lt"/>
              </a:rPr>
              <a:t>Trained using mean squared error loss between predicted and clinical dose maps</a:t>
            </a:r>
          </a:p>
        </p:txBody>
      </p:sp>
      <p:pic>
        <p:nvPicPr>
          <p:cNvPr id="22" name="Picture 21">
            <a:extLst>
              <a:ext uri="{FF2B5EF4-FFF2-40B4-BE49-F238E27FC236}">
                <a16:creationId xmlns:a16="http://schemas.microsoft.com/office/drawing/2014/main" id="{99E27DA8-8036-E964-C2E8-16E5897C27E5}"/>
              </a:ext>
            </a:extLst>
          </p:cNvPr>
          <p:cNvPicPr>
            <a:picLocks noChangeAspect="1"/>
          </p:cNvPicPr>
          <p:nvPr/>
        </p:nvPicPr>
        <p:blipFill>
          <a:blip r:embed="rId6"/>
          <a:stretch>
            <a:fillRect/>
          </a:stretch>
        </p:blipFill>
        <p:spPr>
          <a:xfrm>
            <a:off x="11226787" y="27491943"/>
            <a:ext cx="5075291" cy="3383528"/>
          </a:xfrm>
          <a:prstGeom prst="rect">
            <a:avLst/>
          </a:prstGeom>
        </p:spPr>
      </p:pic>
      <p:sp>
        <p:nvSpPr>
          <p:cNvPr id="25" name="Text Box 270">
            <a:extLst>
              <a:ext uri="{FF2B5EF4-FFF2-40B4-BE49-F238E27FC236}">
                <a16:creationId xmlns:a16="http://schemas.microsoft.com/office/drawing/2014/main" id="{574AC1F3-E930-19E2-B337-61F60AFE7964}"/>
              </a:ext>
            </a:extLst>
          </p:cNvPr>
          <p:cNvSpPr txBox="1">
            <a:spLocks noChangeArrowheads="1"/>
          </p:cNvSpPr>
          <p:nvPr/>
        </p:nvSpPr>
        <p:spPr bwMode="auto">
          <a:xfrm>
            <a:off x="9391938" y="31053848"/>
            <a:ext cx="9114321" cy="2769989"/>
          </a:xfrm>
          <a:prstGeom prst="rect">
            <a:avLst/>
          </a:prstGeom>
          <a:solidFill>
            <a:schemeClr val="bg1"/>
          </a:solid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0"/>
              </a:spcAft>
            </a:pPr>
            <a:r>
              <a:rPr lang="en-US" sz="3600" b="1" dirty="0">
                <a:solidFill>
                  <a:prstClr val="black"/>
                </a:solidFill>
                <a:latin typeface="+mn-lt"/>
              </a:rPr>
              <a:t>Adversarial perturbation model :</a:t>
            </a:r>
          </a:p>
          <a:p>
            <a:pPr lvl="0" defTabSz="4023067" fontAlgn="auto">
              <a:spcBef>
                <a:spcPts val="0"/>
              </a:spcBef>
              <a:spcAft>
                <a:spcPts val="0"/>
              </a:spcAft>
            </a:pPr>
            <a:r>
              <a:rPr lang="en-US" sz="3200" dirty="0">
                <a:solidFill>
                  <a:prstClr val="black"/>
                </a:solidFill>
                <a:latin typeface="+mn-lt"/>
              </a:rPr>
              <a:t>Adversarial perturbations in test input data are optimized  to maximally impact model output(3).</a:t>
            </a:r>
          </a:p>
          <a:p>
            <a:pPr lvl="0" defTabSz="4023067" fontAlgn="auto">
              <a:spcBef>
                <a:spcPts val="0"/>
              </a:spcBef>
              <a:spcAft>
                <a:spcPts val="0"/>
              </a:spcAft>
            </a:pPr>
            <a:r>
              <a:rPr lang="en-US" sz="2800" dirty="0">
                <a:solidFill>
                  <a:prstClr val="black"/>
                </a:solidFill>
                <a:latin typeface="+mn-lt"/>
              </a:rPr>
              <a:t>Below: Perturbations for epsilon 0.02,0.01, 0.005  </a:t>
            </a:r>
          </a:p>
          <a:p>
            <a:pPr lvl="0" defTabSz="4023067" fontAlgn="auto">
              <a:spcBef>
                <a:spcPts val="0"/>
              </a:spcBef>
              <a:spcAft>
                <a:spcPts val="0"/>
              </a:spcAft>
            </a:pPr>
            <a:r>
              <a:rPr lang="en-US" sz="2800" dirty="0">
                <a:solidFill>
                  <a:prstClr val="black"/>
                </a:solidFill>
                <a:latin typeface="+mn-lt"/>
              </a:rPr>
              <a:t>Fast Gradient Sign Method          Post Gradient Descent</a:t>
            </a:r>
          </a:p>
        </p:txBody>
      </p:sp>
      <p:pic>
        <p:nvPicPr>
          <p:cNvPr id="27" name="Picture 26">
            <a:extLst>
              <a:ext uri="{FF2B5EF4-FFF2-40B4-BE49-F238E27FC236}">
                <a16:creationId xmlns:a16="http://schemas.microsoft.com/office/drawing/2014/main" id="{6B31C04E-6421-AF35-CA5E-59053D2F7062}"/>
              </a:ext>
            </a:extLst>
          </p:cNvPr>
          <p:cNvPicPr>
            <a:picLocks noChangeAspect="1"/>
          </p:cNvPicPr>
          <p:nvPr/>
        </p:nvPicPr>
        <p:blipFill>
          <a:blip r:embed="rId7" cstate="print">
            <a:extLst>
              <a:ext uri="{28A0092B-C50C-407E-A947-70E740481C1C}">
                <a14:useLocalDpi xmlns:a14="http://schemas.microsoft.com/office/drawing/2010/main" val="0"/>
              </a:ext>
            </a:extLst>
          </a:blip>
          <a:srcRect l="-470" t="1049" r="470" b="49365"/>
          <a:stretch>
            <a:fillRect/>
          </a:stretch>
        </p:blipFill>
        <p:spPr>
          <a:xfrm rot="5400000">
            <a:off x="9145455" y="34140710"/>
            <a:ext cx="4691680" cy="4267571"/>
          </a:xfrm>
          <a:prstGeom prst="rect">
            <a:avLst/>
          </a:prstGeom>
        </p:spPr>
      </p:pic>
      <p:pic>
        <p:nvPicPr>
          <p:cNvPr id="32" name="Picture 31">
            <a:extLst>
              <a:ext uri="{FF2B5EF4-FFF2-40B4-BE49-F238E27FC236}">
                <a16:creationId xmlns:a16="http://schemas.microsoft.com/office/drawing/2014/main" id="{B8E7F35E-348F-0A80-0643-EF8B35CAD7F4}"/>
              </a:ext>
            </a:extLst>
          </p:cNvPr>
          <p:cNvPicPr>
            <a:picLocks noChangeAspect="1"/>
          </p:cNvPicPr>
          <p:nvPr/>
        </p:nvPicPr>
        <p:blipFill>
          <a:blip r:embed="rId8"/>
          <a:stretch>
            <a:fillRect/>
          </a:stretch>
        </p:blipFill>
        <p:spPr>
          <a:xfrm>
            <a:off x="14197730" y="33946977"/>
            <a:ext cx="4267570" cy="4694327"/>
          </a:xfrm>
          <a:prstGeom prst="rect">
            <a:avLst/>
          </a:prstGeom>
        </p:spPr>
      </p:pic>
      <p:sp>
        <p:nvSpPr>
          <p:cNvPr id="33" name="TextBox 32">
            <a:extLst>
              <a:ext uri="{FF2B5EF4-FFF2-40B4-BE49-F238E27FC236}">
                <a16:creationId xmlns:a16="http://schemas.microsoft.com/office/drawing/2014/main" id="{EC49BD40-4A26-C58E-95ED-7B3FC4B1A795}"/>
              </a:ext>
            </a:extLst>
          </p:cNvPr>
          <p:cNvSpPr txBox="1"/>
          <p:nvPr/>
        </p:nvSpPr>
        <p:spPr>
          <a:xfrm rot="16200000">
            <a:off x="11583613" y="36109475"/>
            <a:ext cx="4730973" cy="369332"/>
          </a:xfrm>
          <a:prstGeom prst="rect">
            <a:avLst/>
          </a:prstGeom>
          <a:noFill/>
        </p:spPr>
        <p:txBody>
          <a:bodyPr wrap="square" rtlCol="0">
            <a:spAutoFit/>
          </a:bodyPr>
          <a:lstStyle/>
          <a:p>
            <a:r>
              <a:rPr lang="en-US" dirty="0"/>
              <a:t>Perturbed             Perturbation              Original </a:t>
            </a:r>
          </a:p>
        </p:txBody>
      </p:sp>
      <p:sp>
        <p:nvSpPr>
          <p:cNvPr id="8" name="Text Box 240">
            <a:extLst>
              <a:ext uri="{FF2B5EF4-FFF2-40B4-BE49-F238E27FC236}">
                <a16:creationId xmlns:a16="http://schemas.microsoft.com/office/drawing/2014/main" id="{DB860B86-FB67-CA92-C14D-789C68C9A36B}"/>
              </a:ext>
            </a:extLst>
          </p:cNvPr>
          <p:cNvSpPr txBox="1">
            <a:spLocks noChangeArrowheads="1"/>
          </p:cNvSpPr>
          <p:nvPr/>
        </p:nvSpPr>
        <p:spPr bwMode="auto">
          <a:xfrm>
            <a:off x="19054098" y="32973980"/>
            <a:ext cx="14866609" cy="2300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2400" dirty="0">
                <a:solidFill>
                  <a:schemeClr val="accent1">
                    <a:lumMod val="50000"/>
                  </a:schemeClr>
                </a:solidFill>
                <a:cs typeface="Arial" panose="020B0604020202020204" pitchFamily="34" charset="0"/>
              </a:rPr>
              <a:t>Figure 3. Robustness analysis of the dose prediction model under adversarial perturbations. (A) Mean absolute error (MAE) between predicted and reference dose distributions as a function of perturbation magnitude (ε) for FGSM and PGD attacks. (B) Relative performance degradation as a function of perturbation magnitude shown on a log-log scale. Both metrics increase with perturbation strength, while PGD produces consistently greater performance degradation than FGSM, indicating increased model vulnerability to iterative adversarial perturbations. </a:t>
            </a:r>
          </a:p>
        </p:txBody>
      </p:sp>
      <p:pic>
        <p:nvPicPr>
          <p:cNvPr id="13" name="Picture 12">
            <a:extLst>
              <a:ext uri="{FF2B5EF4-FFF2-40B4-BE49-F238E27FC236}">
                <a16:creationId xmlns:a16="http://schemas.microsoft.com/office/drawing/2014/main" id="{20877719-2BE0-962E-E08C-38764D21AD5F}"/>
              </a:ext>
            </a:extLst>
          </p:cNvPr>
          <p:cNvPicPr>
            <a:picLocks noChangeAspect="1"/>
          </p:cNvPicPr>
          <p:nvPr/>
        </p:nvPicPr>
        <p:blipFill>
          <a:blip r:embed="rId9"/>
          <a:stretch>
            <a:fillRect/>
          </a:stretch>
        </p:blipFill>
        <p:spPr>
          <a:xfrm>
            <a:off x="19050814" y="28282785"/>
            <a:ext cx="6341879" cy="4345522"/>
          </a:xfrm>
          <a:prstGeom prst="rect">
            <a:avLst/>
          </a:prstGeom>
        </p:spPr>
      </p:pic>
      <p:pic>
        <p:nvPicPr>
          <p:cNvPr id="16" name="Picture 15">
            <a:extLst>
              <a:ext uri="{FF2B5EF4-FFF2-40B4-BE49-F238E27FC236}">
                <a16:creationId xmlns:a16="http://schemas.microsoft.com/office/drawing/2014/main" id="{F278C402-B15C-04EC-1E40-A5545D8AFA4B}"/>
              </a:ext>
            </a:extLst>
          </p:cNvPr>
          <p:cNvPicPr>
            <a:picLocks noChangeAspect="1"/>
          </p:cNvPicPr>
          <p:nvPr/>
        </p:nvPicPr>
        <p:blipFill>
          <a:blip r:embed="rId10"/>
          <a:stretch>
            <a:fillRect/>
          </a:stretch>
        </p:blipFill>
        <p:spPr>
          <a:xfrm>
            <a:off x="26487403" y="28296478"/>
            <a:ext cx="7049232" cy="4203500"/>
          </a:xfrm>
          <a:prstGeom prst="rect">
            <a:avLst/>
          </a:prstGeom>
        </p:spPr>
      </p:pic>
      <p:sp>
        <p:nvSpPr>
          <p:cNvPr id="26" name="Text Box 261">
            <a:extLst>
              <a:ext uri="{FF2B5EF4-FFF2-40B4-BE49-F238E27FC236}">
                <a16:creationId xmlns:a16="http://schemas.microsoft.com/office/drawing/2014/main" id="{D880AB77-8003-B5DA-C07F-52EBF4A8BFD0}"/>
              </a:ext>
            </a:extLst>
          </p:cNvPr>
          <p:cNvSpPr txBox="1">
            <a:spLocks noChangeArrowheads="1"/>
          </p:cNvSpPr>
          <p:nvPr/>
        </p:nvSpPr>
        <p:spPr bwMode="auto">
          <a:xfrm>
            <a:off x="32217160" y="34378727"/>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FUTURE WORK</a:t>
            </a:r>
          </a:p>
        </p:txBody>
      </p:sp>
      <p:sp>
        <p:nvSpPr>
          <p:cNvPr id="29" name="Text Box 271">
            <a:extLst>
              <a:ext uri="{FF2B5EF4-FFF2-40B4-BE49-F238E27FC236}">
                <a16:creationId xmlns:a16="http://schemas.microsoft.com/office/drawing/2014/main" id="{2C80FD7E-D22D-80AA-4CB2-2E4ED7A71A51}"/>
              </a:ext>
            </a:extLst>
          </p:cNvPr>
          <p:cNvSpPr txBox="1">
            <a:spLocks noChangeArrowheads="1"/>
          </p:cNvSpPr>
          <p:nvPr/>
        </p:nvSpPr>
        <p:spPr bwMode="auto">
          <a:xfrm>
            <a:off x="34022432" y="35736709"/>
            <a:ext cx="5598775" cy="2831544"/>
          </a:xfrm>
          <a:prstGeom prst="rect">
            <a:avLst/>
          </a:prstGeom>
          <a:solidFill>
            <a:schemeClr val="bg1"/>
          </a:solid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0"/>
              </a:spcAft>
            </a:pPr>
            <a:r>
              <a:rPr lang="en-US" sz="3200" dirty="0">
                <a:solidFill>
                  <a:prstClr val="black"/>
                </a:solidFill>
                <a:latin typeface="+mn-lt"/>
              </a:rPr>
              <a:t>The noise models in this work may not represent actual physical noise, impact of which will be presented in ASTRO 2026 as a poster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4154</TotalTime>
  <Words>1027</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44x44</dc:title>
  <dc:creator>Genigraphics 800.790.4001</dc:creator>
  <dc:description>To order poster prints visit us at www.genigraphics.com</dc:description>
  <cp:lastModifiedBy>Vaishnav, Birjoo</cp:lastModifiedBy>
  <cp:revision>60</cp:revision>
  <cp:lastPrinted>2026-07-17T20:33:41Z</cp:lastPrinted>
  <dcterms:created xsi:type="dcterms:W3CDTF">2008-05-03T03:01:56Z</dcterms:created>
  <dcterms:modified xsi:type="dcterms:W3CDTF">2026-07-17T20:35:00Z</dcterms:modified>
</cp:coreProperties>
</file>